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ban giám khảo. Chúng em là đội Fprinciples, sản phẩm là Tax Referee, trọng tài cho thuế giá trị gia tăng đầu vào trên hóa đơn điện tử. Cả bài gói trong một câu: máy quyết từng hóa đơn, người chốt cả lô. Quy tắc ra quyết định, AI chỉ làm việc đọc chứng từ. Em sẽ kể hiện trạng, nỗi đau, cách làm, kiến trúc, ba phần giải pháp, bảo mật, riêng tư, rồi mời xem video demo khoảng một phút rưỡi.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Thử hình dung chị kế toán vào cuối tháng. Hóa đơn đổ về từ mail, từ Zalo, có cái là file XML, có cái chỉ là ảnh chụp, có cái là giấy. Chị mở từng mail, tải từng file, lướt Zalo tìm ảnh, gõ lại vào Excel, rồi dò bằng mắt từng điều kiện khấu trừ. Tất cả dồn vào mấy ngày cuối tháng.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bốn chỗ đau. Một, sai một điều kiện là mất tiền thuế được khấu trừ: ví dụ hóa đơn sáu triệu trả tiền mặt, lập sau ngày 1 tháng 7 năm 2025, thì không được khấu trừ vì ngưỡng nay là năm triệu. Hai, chỉ có hai cách làm quen tay mà đều sai: cho qua hết thì thanh tra loại, cái gì cũng hỏi sếp thì sếp nghẽn. Ba, hóa đơn qua mail và Zalo thì không chắc ai gửi, kẻ xấu có thể giả danh nhà cung cấp. Bốn, sếp không thấy toàn cảnh: lô nào đang kẹt, ở đâu, chờ ai.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Cách làm của chúng em giống cô giáo chấm bài. Bài đúng hết thì cho điểm luôn. Bài sai chỗ nào thì khoanh đỏ đúng chỗ đó và hỏi lại. Bộ quy tắc viết sẵn theo luật quyết định từng hóa đơn; phần quyết định không gọi mô hình ngôn ngữ lần nào, nên chạy lại bao nhiêu lần cũng ra một kết quả. AI chỉ làm việc chép chữ trên ảnh. Khi chưa chắc, máy dừng và nói rõ vì sao, chỉ ba kiểu dừng: chưa rõ thông tin, ngoài quy định, vượt thẩm quyền. Cuối cùng người có thẩm quyền ký thì mới ghi sổ. Ca máy duyệt vẫn bị hậu kiểm ngẫu nhiên.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kiến trúc. Hàng trên: hóa đơn vào từ Gmail, Zalo hoặc tải lên; hệ thống nhận diện người gửi bằng danh bạ và kiểm SPF, DKIM của email; đọc chứng từ: file XML do máy đọc tất định, không qua AI, ảnh thì AI chỉ được trả mười bốn trường nhìn thấy; rồi xếp vào lô theo mã số thuế, ngày, số hóa đơn và bỏ hóa đơn trùng. Hàng giữa: bộ quy tắc tất định quyết định, căn cứ pháp lý chọn theo ngày lập hóa đơn. Ca đạt thì máy đề xuất duyệt kèm phiếu giải trình; ca chưa đạt thì đặt câu hỏi kiểu 1A, 2B cho đúng kế toán trưởng hoặc giám đốc tài chính, câu giống nhau thì duyệt nhóm. Chốt lô cần người ký rồi mới ghi sổ. Nền dưới cùng: nhật ký chỉ ghi thêm có chuỗi băm và HMAC, phân quyền và mỗi phiên một cơ sở dữ liệu riêng. Trả lời câu hỏi 2: đánh đổi thứ nhất là dùng quy tắc thay vì để mô hình ngôn ngữ quyết định, đổi độ linh hoạt lấy khả năng kiểm toán. Thứ hai, mỗi phiên một file SQLite thì cách ly đơn giản nhưng chỉ chạy một máy; cần nhiều máy thì chuyển sang PostgreSQL. Thứ ba, gọi AI đọc ảnh đồng bộ qua proxy thì nhanh ra demo nhưng dữ liệu đi ra ngoài, nên khách hàng thật phải có hợp đồng xử lý dữ liệu hoặc chạy chế độ chỉ XML. Lộ trình 30 ngày: SSO, MFA, worker đọc file cô lập, hàng đợi. 90 ngày: lấy XML hóa đơn điện tử có chữ ký số làm nguồn sự thật, đối chiếu dữ liệu cơ quan thuế.</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giải pháp thứ nhất. Chị kế toán không xử lý lẻ từng hóa đơn nữa mà gom thành lô. Trong lô, hóa đơn được xếp theo mã số thuế người bán, rồi ngày, rồi số hóa đơn; hóa đơn trùng bị bỏ, và một hóa đơn chỉ nằm trong một lô nên không bị ghi sổ hai lần. Mỗi hóa đơn có một phiếu giải trình viết bằng lời thường: đạt điều kiện nào, thiếu điều kiện nào, căn cứ văn bản nào theo ngày lập, và kết quả cuối là đã duyệt, từ chối hay tạm giữ.</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giải pháp thứ hai. Máy quyết từng hóa đơn, nhưng chốt lô là việc của người: kế toán trưởng hoặc giám đốc tài chính ký thì mới ghi sổ, và kế toán trưởng không được chốt lô có hóa đơn do chính mình nhập. Câu hỏi cùng nội dung, cùng hệ quả được gom lại, người có thẩm quyền trả lời một lần kiểu 1A, 2B cho cả nhóm; câu xác nhận số liệu riêng của từng tờ thì không gom. Hóa đơn đến qua Gmail hay Zalo thì hệ thống so với danh bạ và kiểm SPF, DKIM để biết ai gửi; kiểu giả danh bằng địa chỉ như example.com@evil.net bị chặn. Chỉ kế toán viên lấy thư; người gửi lạ phải được kế toán trưởng hoặc giám đốc tài chính xác nhận. Trong phiên demo của người lạ, kênh Gmail và Zalo thật không chạy.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giải pháp thứ ba. Màn hình Tổng quan cho sếp: bao nhiêu lô đã chốt, bao nhiêu chưa, hóa đơn nào đang chờ ai và vì sao dừng. Màn hình Lịch sử của tôi cho từng người: mình đã nhập gì, trả lời gì, duyệt gì, bằng nhãn tiếng Việt dễ đọc. Phần việc đã làm lấy từ nhật ký chỉ ghi thêm, nên không ai sửa lén được.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Trả lời câu hỏi 1 về bảo mật hệ có agent AI. Chúng em cố ý không để agent AI quyết định: AI chỉ đọc, quyền ghi trạng thái thuế nằm trong bộ quy tắc tất định. Bốn trụ. Định danh: khi máy tự duyệt, nhật ký ghi tên SYSTEM_REFEREE kèm hash của policy và hash dữ liệu, máy không mượn danh người nhập. Đặc quyền tối thiểu: quyền kiểm ở máy chủ, kế toán trưởng sửa ca 330 triệu xuống 198 triệu thì ca vẫn phải chờ giám đốc tài chính. Ranh giới thực thi tất định: agent đọc ảnh chỉ được khai mười bốn trường nhìn thấy; nếu nó tự khai thêm "đã có ủy nhiệm chi" thì trường đó bị loại và ca phải hỏi người. Cách ly: mỗi phiên một cơ sở dữ liệu riêng, nhật ký bị sửa là bị phát hiện. Các phép thử cho bốn trụ chạy ngay trên bản đang deploy ở trang /trust. Giới hạn nói thẳng: định danh trong demo là vai trò mô phỏng, và trình đọc PDF chưa nằm trong container riêng.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riêng tư. Nội dung file XML do máy đọc tất định, không gửi cho AI; riêng tên và mã số thuế người bán có thể được gửi đi tra cứu qua dịch vụ tra cứu bên thứ ba và công cụ tìm kiếm giới hạn nguồn .gov.vn. Ảnh chụp thì AI chỉ được trả về mười bốn trường nhìn thấy, khai thêm là bị loại. Đường quyết định không gọi AI, nên có thể chạy chế độ không AI: chỉ nhận XML và nhập tay. Mỗi phiên một cơ sở dữ liệu riêng, nhật ký chỉ ghi thêm. Về luật dữ liệu cá nhân, chúng em đối chiếu Luật Bảo vệ dữ liệu cá nhân số 91/2025/QH15 và Nghị định 356/2025/NĐ-CP qua nguồn thứ cấp, nên không trích số điều. Lên production phải có hợp đồng xử lý dữ liệu với nhà cung cấp AI, hoặc chạy chế độ chỉ XML. Về thuế, căn cứ được chọn theo ngày lập hóa đơn: hóa đơn trước 1 tháng 7 năm 2025 dùng Thông tư 219/2013; từ ngày đó dùng Luật Thuế giá trị gia tăng 48/2024 và Nghị định 181/2025.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Mời ban giám khảo xem video demo khoảng một phút rưỡi: tạo lô, xem phiếu giải trình, trả lời nhóm câu hỏi, chốt lô, màn hình tổng quan, lịch sử của tôi, rồi hóa đơn đến từ Gmail và Zalo. Nếu video không chạy, mở bản đang chạy ở địa chỉ dưới màn hình. Cảm ơn ban giám khảo, chúng em sẵn sàng nhận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548640"/>
            <a:ext cx="8046720" cy="274320"/>
          </a:xfrm>
          <a:prstGeom prst="rect">
            <a:avLst/>
          </a:prstGeom>
          <a:noFill/>
        </p:spPr>
        <p:txBody>
          <a:bodyPr wrap="square" lIns="0" rIns="0" tIns="0" bIns="0" anchor="t">
            <a:noAutofit/>
          </a:bodyPr>
          <a:lstStyle/>
          <a:p>
            <a:pPr algn="l"/>
            <a:r>
              <a:rPr sz="1100" b="1" i="0">
                <a:solidFill>
                  <a:srgbClr val="D9F99D"/>
                </a:solidFill>
                <a:latin typeface="Calibri"/>
              </a:rPr>
              <a:t>TAX REFEREE · ĐỀ A — THE ESCALATION REFEREE · VÒNG CẢI TIẾN 17/10</a:t>
            </a:r>
          </a:p>
        </p:txBody>
      </p:sp>
      <p:sp>
        <p:nvSpPr>
          <p:cNvPr id="3" name="TextBox 2"/>
          <p:cNvSpPr txBox="1"/>
          <p:nvPr/>
        </p:nvSpPr>
        <p:spPr>
          <a:xfrm>
            <a:off x="548640" y="914400"/>
            <a:ext cx="8046720" cy="1325880"/>
          </a:xfrm>
          <a:prstGeom prst="rect">
            <a:avLst/>
          </a:prstGeom>
          <a:noFill/>
        </p:spPr>
        <p:txBody>
          <a:bodyPr wrap="square" lIns="0" rIns="0" tIns="0" bIns="0" anchor="t">
            <a:noAutofit/>
          </a:bodyPr>
          <a:lstStyle/>
          <a:p>
            <a:pPr algn="l"/>
            <a:r>
              <a:rPr sz="4000" b="1" i="0">
                <a:solidFill>
                  <a:srgbClr val="FFFFFF"/>
                </a:solidFill>
                <a:latin typeface="Cambria"/>
              </a:rPr>
              <a:t>Máy quyết từng hóa đơn.</a:t>
            </a:r>
          </a:p>
          <a:p>
            <a:pPr algn="l"/>
            <a:r>
              <a:rPr sz="4000" b="1" i="0">
                <a:solidFill>
                  <a:srgbClr val="D9F99D"/>
                </a:solidFill>
                <a:latin typeface="Cambria"/>
              </a:rPr>
              <a:t>Người chốt cả lô.</a:t>
            </a:r>
          </a:p>
        </p:txBody>
      </p:sp>
      <p:sp>
        <p:nvSpPr>
          <p:cNvPr id="4" name="TextBox 3"/>
          <p:cNvSpPr txBox="1"/>
          <p:nvPr/>
        </p:nvSpPr>
        <p:spPr>
          <a:xfrm>
            <a:off x="548640" y="2377440"/>
            <a:ext cx="8046720" cy="365760"/>
          </a:xfrm>
          <a:prstGeom prst="rect">
            <a:avLst/>
          </a:prstGeom>
          <a:noFill/>
        </p:spPr>
        <p:txBody>
          <a:bodyPr wrap="square" lIns="0" rIns="0" tIns="0" bIns="0" anchor="t">
            <a:noAutofit/>
          </a:bodyPr>
          <a:lstStyle/>
          <a:p>
            <a:pPr algn="l"/>
            <a:r>
              <a:rPr sz="1800" b="0" i="0">
                <a:solidFill>
                  <a:srgbClr val="E2E8F0"/>
                </a:solidFill>
                <a:latin typeface="Calibri"/>
              </a:rPr>
              <a:t>Trọng tài thuế GTGT đầu vào cho hóa đơn điện tử Việt Nam</a:t>
            </a:r>
          </a:p>
        </p:txBody>
      </p:sp>
      <p:sp>
        <p:nvSpPr>
          <p:cNvPr id="5" name="TextBox 4"/>
          <p:cNvSpPr txBox="1"/>
          <p:nvPr/>
        </p:nvSpPr>
        <p:spPr>
          <a:xfrm>
            <a:off x="548640" y="2761488"/>
            <a:ext cx="8046720" cy="320040"/>
          </a:xfrm>
          <a:prstGeom prst="rect">
            <a:avLst/>
          </a:prstGeom>
          <a:noFill/>
        </p:spPr>
        <p:txBody>
          <a:bodyPr wrap="square" lIns="0" rIns="0" tIns="0" bIns="0" anchor="t">
            <a:noAutofit/>
          </a:bodyPr>
          <a:lstStyle/>
          <a:p>
            <a:pPr algn="l"/>
            <a:r>
              <a:rPr sz="1500" b="0" i="0">
                <a:solidFill>
                  <a:srgbClr val="CBD5E1"/>
                </a:solidFill>
                <a:latin typeface="Calibri"/>
              </a:rPr>
              <a:t>Quy tắc quyết định. AI chỉ đọc chứng từ. Người có thẩm quyền chốt sổ.</a:t>
            </a:r>
          </a:p>
        </p:txBody>
      </p:sp>
      <p:sp>
        <p:nvSpPr>
          <p:cNvPr id="6" name="Rounded Rectangle 5"/>
          <p:cNvSpPr/>
          <p:nvPr/>
        </p:nvSpPr>
        <p:spPr>
          <a:xfrm>
            <a:off x="548640" y="3429000"/>
            <a:ext cx="1645920" cy="438912"/>
          </a:xfrm>
          <a:prstGeom prst="roundRect">
            <a:avLst>
              <a:gd name="adj" fmla="val 50000"/>
            </a:avLst>
          </a:prstGeom>
          <a:noFill/>
          <a:ln w="12700">
            <a:solidFill>
              <a:srgbClr val="D9F99D"/>
            </a:solidFill>
          </a:ln>
        </p:spPr>
        <p:txBody>
          <a:bodyPr rtlCol="0" anchor="ctr" lIns="36576" rIns="36576" tIns="36576" bIns="36576" wrap="square">
            <a:noAutofit/>
          </a:bodyPr>
          <a:lstStyle/>
          <a:p>
            <a:pPr algn="ctr"/>
            <a:r>
              <a:rPr sz="1300" b="1" i="0">
                <a:solidFill>
                  <a:srgbClr val="D9F99D"/>
                </a:solidFill>
                <a:latin typeface="Calibri"/>
              </a:rPr>
              <a:t>Nhận hóa đơn</a:t>
            </a:r>
          </a:p>
        </p:txBody>
      </p:sp>
      <p:cxnSp>
        <p:nvCxnSpPr>
          <p:cNvPr id="7" name="Connector 6"/>
          <p:cNvCxnSpPr/>
          <p:nvPr/>
        </p:nvCxnSpPr>
        <p:spPr>
          <a:xfrm>
            <a:off x="2240280" y="3648456"/>
            <a:ext cx="274320" cy="0"/>
          </a:xfrm>
          <a:prstGeom prst="line">
            <a:avLst/>
          </a:prstGeom>
          <a:ln w="19050">
            <a:solidFill>
              <a:srgbClr val="94A3B8"/>
            </a:solidFill>
            <a:tailEnd type="triangle" w="med" len="med"/>
          </a:ln>
        </p:spPr>
      </p:cxnSp>
      <p:sp>
        <p:nvSpPr>
          <p:cNvPr id="8" name="Rounded Rectangle 7"/>
          <p:cNvSpPr/>
          <p:nvPr/>
        </p:nvSpPr>
        <p:spPr>
          <a:xfrm>
            <a:off x="2560320" y="3429000"/>
            <a:ext cx="1645920" cy="438912"/>
          </a:xfrm>
          <a:prstGeom prst="roundRect">
            <a:avLst>
              <a:gd name="adj" fmla="val 50000"/>
            </a:avLst>
          </a:prstGeom>
          <a:noFill/>
          <a:ln w="12700">
            <a:solidFill>
              <a:srgbClr val="D9F99D"/>
            </a:solidFill>
          </a:ln>
        </p:spPr>
        <p:txBody>
          <a:bodyPr rtlCol="0" anchor="ctr" lIns="36576" rIns="36576" tIns="36576" bIns="36576" wrap="square">
            <a:noAutofit/>
          </a:bodyPr>
          <a:lstStyle/>
          <a:p>
            <a:pPr algn="ctr"/>
            <a:r>
              <a:rPr sz="1300" b="1" i="0">
                <a:solidFill>
                  <a:srgbClr val="D9F99D"/>
                </a:solidFill>
                <a:latin typeface="Calibri"/>
              </a:rPr>
              <a:t>Đọc chứng từ</a:t>
            </a:r>
          </a:p>
        </p:txBody>
      </p:sp>
      <p:cxnSp>
        <p:nvCxnSpPr>
          <p:cNvPr id="9" name="Connector 8"/>
          <p:cNvCxnSpPr/>
          <p:nvPr/>
        </p:nvCxnSpPr>
        <p:spPr>
          <a:xfrm>
            <a:off x="4251960" y="3648456"/>
            <a:ext cx="274320" cy="0"/>
          </a:xfrm>
          <a:prstGeom prst="line">
            <a:avLst/>
          </a:prstGeom>
          <a:ln w="19050">
            <a:solidFill>
              <a:srgbClr val="94A3B8"/>
            </a:solidFill>
            <a:tailEnd type="triangle" w="med" len="med"/>
          </a:ln>
        </p:spPr>
      </p:cxnSp>
      <p:sp>
        <p:nvSpPr>
          <p:cNvPr id="10" name="Rounded Rectangle 9"/>
          <p:cNvSpPr/>
          <p:nvPr/>
        </p:nvSpPr>
        <p:spPr>
          <a:xfrm>
            <a:off x="4572000" y="3429000"/>
            <a:ext cx="1645920" cy="438912"/>
          </a:xfrm>
          <a:prstGeom prst="roundRect">
            <a:avLst>
              <a:gd name="adj" fmla="val 50000"/>
            </a:avLst>
          </a:prstGeom>
          <a:noFill/>
          <a:ln w="12700">
            <a:solidFill>
              <a:srgbClr val="D9F99D"/>
            </a:solidFill>
          </a:ln>
        </p:spPr>
        <p:txBody>
          <a:bodyPr rtlCol="0" anchor="ctr" lIns="36576" rIns="36576" tIns="36576" bIns="36576" wrap="square">
            <a:noAutofit/>
          </a:bodyPr>
          <a:lstStyle/>
          <a:p>
            <a:pPr algn="ctr"/>
            <a:r>
              <a:rPr sz="1300" b="1" i="0">
                <a:solidFill>
                  <a:srgbClr val="D9F99D"/>
                </a:solidFill>
                <a:latin typeface="Calibri"/>
              </a:rPr>
              <a:t>Máy quyết</a:t>
            </a:r>
          </a:p>
        </p:txBody>
      </p:sp>
      <p:cxnSp>
        <p:nvCxnSpPr>
          <p:cNvPr id="11" name="Connector 10"/>
          <p:cNvCxnSpPr/>
          <p:nvPr/>
        </p:nvCxnSpPr>
        <p:spPr>
          <a:xfrm>
            <a:off x="6263640" y="3648456"/>
            <a:ext cx="274320" cy="0"/>
          </a:xfrm>
          <a:prstGeom prst="line">
            <a:avLst/>
          </a:prstGeom>
          <a:ln w="19050">
            <a:solidFill>
              <a:srgbClr val="94A3B8"/>
            </a:solidFill>
            <a:tailEnd type="triangle" w="med" len="med"/>
          </a:ln>
        </p:spPr>
      </p:cxnSp>
      <p:sp>
        <p:nvSpPr>
          <p:cNvPr id="12" name="Rounded Rectangle 11"/>
          <p:cNvSpPr/>
          <p:nvPr/>
        </p:nvSpPr>
        <p:spPr>
          <a:xfrm>
            <a:off x="6583680" y="3429000"/>
            <a:ext cx="1645920" cy="438912"/>
          </a:xfrm>
          <a:prstGeom prst="roundRect">
            <a:avLst>
              <a:gd name="adj" fmla="val 50000"/>
            </a:avLst>
          </a:prstGeom>
          <a:noFill/>
          <a:ln w="12700">
            <a:solidFill>
              <a:srgbClr val="D9F99D"/>
            </a:solidFill>
          </a:ln>
        </p:spPr>
        <p:txBody>
          <a:bodyPr rtlCol="0" anchor="ctr" lIns="36576" rIns="36576" tIns="36576" bIns="36576" wrap="square">
            <a:noAutofit/>
          </a:bodyPr>
          <a:lstStyle/>
          <a:p>
            <a:pPr algn="ctr"/>
            <a:r>
              <a:rPr sz="1300" b="1" i="0">
                <a:solidFill>
                  <a:srgbClr val="D9F99D"/>
                </a:solidFill>
                <a:latin typeface="Calibri"/>
              </a:rPr>
              <a:t>Người chốt</a:t>
            </a:r>
          </a:p>
        </p:txBody>
      </p:sp>
      <p:sp>
        <p:nvSpPr>
          <p:cNvPr id="13" name="TextBox 12"/>
          <p:cNvSpPr txBox="1"/>
          <p:nvPr/>
        </p:nvSpPr>
        <p:spPr>
          <a:xfrm>
            <a:off x="548640" y="4434840"/>
            <a:ext cx="8046720" cy="274320"/>
          </a:xfrm>
          <a:prstGeom prst="rect">
            <a:avLst/>
          </a:prstGeom>
          <a:noFill/>
        </p:spPr>
        <p:txBody>
          <a:bodyPr wrap="square" lIns="0" rIns="0" tIns="0" bIns="0" anchor="t">
            <a:noAutofit/>
          </a:bodyPr>
          <a:lstStyle/>
          <a:p>
            <a:pPr algn="l"/>
            <a:r>
              <a:rPr sz="1000" b="0" i="0">
                <a:solidFill>
                  <a:srgbClr val="94A3B8"/>
                </a:solidFill>
                <a:latin typeface="Calibri"/>
              </a:rPr>
              <a:t>Đội Fprinciples · MLAI Hackathon 2026 · Track VNG · limegreen-salamander-517622.hostingersite.com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HIỆN TRẠNG</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Cuối tháng của chị kế toán</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2</a:t>
            </a:r>
          </a:p>
        </p:txBody>
      </p:sp>
      <p:sp>
        <p:nvSpPr>
          <p:cNvPr id="6" name="Rounded Rectangle 5"/>
          <p:cNvSpPr/>
          <p:nvPr/>
        </p:nvSpPr>
        <p:spPr>
          <a:xfrm>
            <a:off x="457200" y="1325880"/>
            <a:ext cx="1371600" cy="402336"/>
          </a:xfrm>
          <a:prstGeom prst="roundRect">
            <a:avLst>
              <a:gd name="adj" fmla="val 8000"/>
            </a:avLst>
          </a:prstGeom>
          <a:solidFill>
            <a:srgbClr val="FFFFFF"/>
          </a:solidFill>
          <a:ln w="12700">
            <a:solidFill>
              <a:srgbClr val="CBD5E1"/>
            </a:solidFill>
          </a:ln>
        </p:spPr>
        <p:txBody>
          <a:bodyPr rtlCol="0" anchor="ctr" lIns="36576" rIns="36576" tIns="36576" bIns="36576" wrap="square">
            <a:noAutofit/>
          </a:bodyPr>
          <a:lstStyle/>
          <a:p>
            <a:pPr algn="ctr"/>
            <a:r>
              <a:rPr sz="1200" b="1" i="0">
                <a:solidFill>
                  <a:srgbClr val="334155"/>
                </a:solidFill>
                <a:latin typeface="Calibri"/>
              </a:rPr>
              <a:t>Gmail</a:t>
            </a:r>
          </a:p>
        </p:txBody>
      </p:sp>
      <p:cxnSp>
        <p:nvCxnSpPr>
          <p:cNvPr id="7" name="Connector 6"/>
          <p:cNvCxnSpPr/>
          <p:nvPr/>
        </p:nvCxnSpPr>
        <p:spPr>
          <a:xfrm>
            <a:off x="1874519" y="1527048"/>
            <a:ext cx="365761" cy="365759"/>
          </a:xfrm>
          <a:prstGeom prst="line">
            <a:avLst/>
          </a:prstGeom>
          <a:ln w="19050">
            <a:solidFill>
              <a:srgbClr val="94A3B8"/>
            </a:solidFill>
            <a:tailEnd type="triangle" w="med" len="med"/>
          </a:ln>
        </p:spPr>
      </p:cxnSp>
      <p:sp>
        <p:nvSpPr>
          <p:cNvPr id="8" name="Rounded Rectangle 7"/>
          <p:cNvSpPr/>
          <p:nvPr/>
        </p:nvSpPr>
        <p:spPr>
          <a:xfrm>
            <a:off x="457200" y="1892807"/>
            <a:ext cx="1371600" cy="402336"/>
          </a:xfrm>
          <a:prstGeom prst="roundRect">
            <a:avLst>
              <a:gd name="adj" fmla="val 8000"/>
            </a:avLst>
          </a:prstGeom>
          <a:solidFill>
            <a:srgbClr val="FFFFFF"/>
          </a:solidFill>
          <a:ln w="12700">
            <a:solidFill>
              <a:srgbClr val="CBD5E1"/>
            </a:solidFill>
          </a:ln>
        </p:spPr>
        <p:txBody>
          <a:bodyPr rtlCol="0" anchor="ctr" lIns="36576" rIns="36576" tIns="36576" bIns="36576" wrap="square">
            <a:noAutofit/>
          </a:bodyPr>
          <a:lstStyle/>
          <a:p>
            <a:pPr algn="ctr"/>
            <a:r>
              <a:rPr sz="1200" b="1" i="0">
                <a:solidFill>
                  <a:srgbClr val="334155"/>
                </a:solidFill>
                <a:latin typeface="Calibri"/>
              </a:rPr>
              <a:t>Zalo</a:t>
            </a:r>
          </a:p>
        </p:txBody>
      </p:sp>
      <p:cxnSp>
        <p:nvCxnSpPr>
          <p:cNvPr id="9" name="Connector 8"/>
          <p:cNvCxnSpPr/>
          <p:nvPr/>
        </p:nvCxnSpPr>
        <p:spPr>
          <a:xfrm flipV="1">
            <a:off x="1874519" y="1892807"/>
            <a:ext cx="365761" cy="201169"/>
          </a:xfrm>
          <a:prstGeom prst="line">
            <a:avLst/>
          </a:prstGeom>
          <a:ln w="19050">
            <a:solidFill>
              <a:srgbClr val="94A3B8"/>
            </a:solidFill>
            <a:tailEnd type="triangle" w="med" len="med"/>
          </a:ln>
        </p:spPr>
      </p:cxnSp>
      <p:sp>
        <p:nvSpPr>
          <p:cNvPr id="10" name="Rounded Rectangle 9"/>
          <p:cNvSpPr/>
          <p:nvPr/>
        </p:nvSpPr>
        <p:spPr>
          <a:xfrm>
            <a:off x="457200" y="2459736"/>
            <a:ext cx="1371600" cy="402336"/>
          </a:xfrm>
          <a:prstGeom prst="roundRect">
            <a:avLst>
              <a:gd name="adj" fmla="val 8000"/>
            </a:avLst>
          </a:prstGeom>
          <a:solidFill>
            <a:srgbClr val="FFFFFF"/>
          </a:solidFill>
          <a:ln w="12700">
            <a:solidFill>
              <a:srgbClr val="CBD5E1"/>
            </a:solidFill>
          </a:ln>
        </p:spPr>
        <p:txBody>
          <a:bodyPr rtlCol="0" anchor="ctr" lIns="36576" rIns="36576" tIns="36576" bIns="36576" wrap="square">
            <a:noAutofit/>
          </a:bodyPr>
          <a:lstStyle/>
          <a:p>
            <a:pPr algn="ctr"/>
            <a:r>
              <a:rPr sz="1200" b="1" i="0">
                <a:solidFill>
                  <a:srgbClr val="334155"/>
                </a:solidFill>
                <a:latin typeface="Calibri"/>
              </a:rPr>
              <a:t>Giấy, ảnh chụp</a:t>
            </a:r>
          </a:p>
        </p:txBody>
      </p:sp>
      <p:cxnSp>
        <p:nvCxnSpPr>
          <p:cNvPr id="11" name="Connector 10"/>
          <p:cNvCxnSpPr/>
          <p:nvPr/>
        </p:nvCxnSpPr>
        <p:spPr>
          <a:xfrm flipV="1">
            <a:off x="1874519" y="1892807"/>
            <a:ext cx="365761" cy="768097"/>
          </a:xfrm>
          <a:prstGeom prst="line">
            <a:avLst/>
          </a:prstGeom>
          <a:ln w="19050">
            <a:solidFill>
              <a:srgbClr val="94A3B8"/>
            </a:solidFill>
            <a:tailEnd type="triangle" w="med" len="med"/>
          </a:ln>
        </p:spPr>
      </p:cxnSp>
      <p:sp>
        <p:nvSpPr>
          <p:cNvPr id="12" name="Rounded Rectangle 11"/>
          <p:cNvSpPr/>
          <p:nvPr/>
        </p:nvSpPr>
        <p:spPr>
          <a:xfrm>
            <a:off x="2286000" y="1325880"/>
            <a:ext cx="1920240" cy="1143000"/>
          </a:xfrm>
          <a:prstGeom prst="roundRect">
            <a:avLst>
              <a:gd name="adj" fmla="val 8000"/>
            </a:avLst>
          </a:prstGeom>
          <a:solidFill>
            <a:srgbClr val="F1F5F9"/>
          </a:solidFill>
          <a:ln>
            <a:noFill/>
          </a:ln>
        </p:spPr>
        <p:txBody>
          <a:bodyPr rtlCol="0" anchor="ctr" lIns="109728" rIns="109728" tIns="54864" bIns="54864" wrap="square">
            <a:noAutofit/>
          </a:bodyPr>
          <a:lstStyle/>
          <a:p>
            <a:pPr algn="ctr"/>
            <a:r>
              <a:rPr sz="1500" b="1" i="0">
                <a:solidFill>
                  <a:srgbClr val="0F172A"/>
                </a:solidFill>
                <a:latin typeface="Calibri"/>
              </a:rPr>
              <a:t>Hóa đơn dồn về</a:t>
            </a:r>
          </a:p>
          <a:p>
            <a:pPr algn="ctr"/>
            <a:r>
              <a:rPr sz="1200" b="0" i="0">
                <a:solidFill>
                  <a:srgbClr val="64748B"/>
                </a:solidFill>
                <a:latin typeface="Calibri"/>
              </a:rPr>
              <a:t>XML, PDF, ảnh, giấy</a:t>
            </a:r>
          </a:p>
        </p:txBody>
      </p:sp>
      <p:sp>
        <p:nvSpPr>
          <p:cNvPr id="13" name="Rounded Rectangle 12"/>
          <p:cNvSpPr/>
          <p:nvPr/>
        </p:nvSpPr>
        <p:spPr>
          <a:xfrm>
            <a:off x="457200" y="3246120"/>
            <a:ext cx="3749039" cy="1188720"/>
          </a:xfrm>
          <a:prstGeom prst="roundRect">
            <a:avLst>
              <a:gd name="adj" fmla="val 8000"/>
            </a:avLst>
          </a:prstGeom>
          <a:solidFill>
            <a:srgbClr val="ECFCCB"/>
          </a:solidFill>
          <a:ln>
            <a:noFill/>
          </a:ln>
        </p:spPr>
        <p:txBody>
          <a:bodyPr rtlCol="0" anchor="ctr" lIns="164592" rIns="164592" tIns="54864" bIns="54864" wrap="square">
            <a:noAutofit/>
          </a:bodyPr>
          <a:lstStyle/>
          <a:p>
            <a:pPr algn="l"/>
            <a:r>
              <a:rPr sz="1400" b="1" i="0">
                <a:solidFill>
                  <a:srgbClr val="0F172A"/>
                </a:solidFill>
                <a:latin typeface="Calibri"/>
              </a:rPr>
              <a:t>Dồn vào cuối tháng. </a:t>
            </a:r>
            <a:r>
              <a:rPr sz="1400" b="0" i="0">
                <a:solidFill>
                  <a:srgbClr val="0F172A"/>
                </a:solidFill>
                <a:latin typeface="Calibri"/>
              </a:rPr>
              <a:t>Mỗi hóa đơn phải đạt nhiều điều kiện cùng lúc mới được khấu trừ thuế.</a:t>
            </a:r>
          </a:p>
        </p:txBody>
      </p:sp>
      <p:sp>
        <p:nvSpPr>
          <p:cNvPr id="14" name="TextBox 13"/>
          <p:cNvSpPr txBox="1"/>
          <p:nvPr/>
        </p:nvSpPr>
        <p:spPr>
          <a:xfrm>
            <a:off x="4572000" y="1280160"/>
            <a:ext cx="4114800" cy="274320"/>
          </a:xfrm>
          <a:prstGeom prst="rect">
            <a:avLst/>
          </a:prstGeom>
          <a:noFill/>
        </p:spPr>
        <p:txBody>
          <a:bodyPr wrap="square" lIns="0" rIns="0" tIns="0" bIns="0" anchor="t">
            <a:noAutofit/>
          </a:bodyPr>
          <a:lstStyle/>
          <a:p>
            <a:pPr algn="l"/>
            <a:r>
              <a:rPr sz="1400" b="1" i="0">
                <a:solidFill>
                  <a:srgbClr val="0F172A"/>
                </a:solidFill>
                <a:latin typeface="Calibri"/>
              </a:rPr>
              <a:t>Chị làm từng bước bằng tay</a:t>
            </a:r>
          </a:p>
        </p:txBody>
      </p:sp>
      <p:sp>
        <p:nvSpPr>
          <p:cNvPr id="15" name="Oval 14"/>
          <p:cNvSpPr/>
          <p:nvPr/>
        </p:nvSpPr>
        <p:spPr>
          <a:xfrm>
            <a:off x="4572000" y="1737360"/>
            <a:ext cx="384048" cy="384048"/>
          </a:xfrm>
          <a:prstGeom prst="ellipse">
            <a:avLst/>
          </a:prstGeom>
          <a:solidFill>
            <a:srgbClr val="0F172A"/>
          </a:solidFill>
          <a:ln>
            <a:noFill/>
          </a:ln>
        </p:spPr>
        <p:txBody>
          <a:bodyPr rtlCol="0" anchor="ctr" lIns="0" rIns="0" tIns="0" bIns="0" wrap="square">
            <a:noAutofit/>
          </a:bodyPr>
          <a:lstStyle/>
          <a:p>
            <a:pPr algn="ctr"/>
            <a:r>
              <a:rPr sz="1300" b="1" i="0">
                <a:solidFill>
                  <a:srgbClr val="FFFFFF"/>
                </a:solidFill>
                <a:latin typeface="Calibri"/>
              </a:rPr>
              <a:t>1</a:t>
            </a:r>
          </a:p>
        </p:txBody>
      </p:sp>
      <p:sp>
        <p:nvSpPr>
          <p:cNvPr id="16" name="TextBox 15"/>
          <p:cNvSpPr txBox="1"/>
          <p:nvPr/>
        </p:nvSpPr>
        <p:spPr>
          <a:xfrm>
            <a:off x="5120640" y="1691640"/>
            <a:ext cx="3566160" cy="274320"/>
          </a:xfrm>
          <a:prstGeom prst="rect">
            <a:avLst/>
          </a:prstGeom>
          <a:noFill/>
        </p:spPr>
        <p:txBody>
          <a:bodyPr wrap="square" lIns="0" rIns="0" tIns="0" bIns="0" anchor="t">
            <a:noAutofit/>
          </a:bodyPr>
          <a:lstStyle/>
          <a:p>
            <a:pPr algn="l"/>
            <a:r>
              <a:rPr sz="1400" b="1" i="0">
                <a:solidFill>
                  <a:srgbClr val="0F172A"/>
                </a:solidFill>
                <a:latin typeface="Calibri"/>
              </a:rPr>
              <a:t>Mở mail, tải từng file</a:t>
            </a:r>
          </a:p>
        </p:txBody>
      </p:sp>
      <p:sp>
        <p:nvSpPr>
          <p:cNvPr id="17" name="TextBox 16"/>
          <p:cNvSpPr txBox="1"/>
          <p:nvPr/>
        </p:nvSpPr>
        <p:spPr>
          <a:xfrm>
            <a:off x="5120640" y="1965960"/>
            <a:ext cx="3566160" cy="320040"/>
          </a:xfrm>
          <a:prstGeom prst="rect">
            <a:avLst/>
          </a:prstGeom>
          <a:noFill/>
        </p:spPr>
        <p:txBody>
          <a:bodyPr wrap="square" lIns="0" rIns="0" tIns="0" bIns="0" anchor="t">
            <a:noAutofit/>
          </a:bodyPr>
          <a:lstStyle/>
          <a:p>
            <a:pPr algn="l"/>
            <a:r>
              <a:rPr sz="1200" b="0" i="0">
                <a:solidFill>
                  <a:srgbClr val="64748B"/>
                </a:solidFill>
                <a:latin typeface="Calibri"/>
              </a:rPr>
              <a:t>Mỗi nhà cung cấp gửi một kiểu, một giờ.</a:t>
            </a:r>
          </a:p>
        </p:txBody>
      </p:sp>
      <p:sp>
        <p:nvSpPr>
          <p:cNvPr id="18" name="Oval 17"/>
          <p:cNvSpPr/>
          <p:nvPr/>
        </p:nvSpPr>
        <p:spPr>
          <a:xfrm>
            <a:off x="4572000" y="2450591"/>
            <a:ext cx="384048" cy="384048"/>
          </a:xfrm>
          <a:prstGeom prst="ellipse">
            <a:avLst/>
          </a:prstGeom>
          <a:solidFill>
            <a:srgbClr val="0F172A"/>
          </a:solidFill>
          <a:ln>
            <a:noFill/>
          </a:ln>
        </p:spPr>
        <p:txBody>
          <a:bodyPr rtlCol="0" anchor="ctr" lIns="0" rIns="0" tIns="0" bIns="0" wrap="square">
            <a:noAutofit/>
          </a:bodyPr>
          <a:lstStyle/>
          <a:p>
            <a:pPr algn="ctr"/>
            <a:r>
              <a:rPr sz="1300" b="1" i="0">
                <a:solidFill>
                  <a:srgbClr val="FFFFFF"/>
                </a:solidFill>
                <a:latin typeface="Calibri"/>
              </a:rPr>
              <a:t>2</a:t>
            </a:r>
          </a:p>
        </p:txBody>
      </p:sp>
      <p:sp>
        <p:nvSpPr>
          <p:cNvPr id="19" name="TextBox 18"/>
          <p:cNvSpPr txBox="1"/>
          <p:nvPr/>
        </p:nvSpPr>
        <p:spPr>
          <a:xfrm>
            <a:off x="5120640" y="2404872"/>
            <a:ext cx="3566160" cy="274320"/>
          </a:xfrm>
          <a:prstGeom prst="rect">
            <a:avLst/>
          </a:prstGeom>
          <a:noFill/>
        </p:spPr>
        <p:txBody>
          <a:bodyPr wrap="square" lIns="0" rIns="0" tIns="0" bIns="0" anchor="t">
            <a:noAutofit/>
          </a:bodyPr>
          <a:lstStyle/>
          <a:p>
            <a:pPr algn="l"/>
            <a:r>
              <a:rPr sz="1400" b="1" i="0">
                <a:solidFill>
                  <a:srgbClr val="0F172A"/>
                </a:solidFill>
                <a:latin typeface="Calibri"/>
              </a:rPr>
              <a:t>Lướt Zalo tìm ảnh chụp</a:t>
            </a:r>
          </a:p>
        </p:txBody>
      </p:sp>
      <p:sp>
        <p:nvSpPr>
          <p:cNvPr id="20" name="TextBox 19"/>
          <p:cNvSpPr txBox="1"/>
          <p:nvPr/>
        </p:nvSpPr>
        <p:spPr>
          <a:xfrm>
            <a:off x="5120640" y="2679191"/>
            <a:ext cx="3566160" cy="320040"/>
          </a:xfrm>
          <a:prstGeom prst="rect">
            <a:avLst/>
          </a:prstGeom>
          <a:noFill/>
        </p:spPr>
        <p:txBody>
          <a:bodyPr wrap="square" lIns="0" rIns="0" tIns="0" bIns="0" anchor="t">
            <a:noAutofit/>
          </a:bodyPr>
          <a:lstStyle/>
          <a:p>
            <a:pPr algn="l"/>
            <a:r>
              <a:rPr sz="1200" b="0" i="0">
                <a:solidFill>
                  <a:srgbClr val="64748B"/>
                </a:solidFill>
                <a:latin typeface="Calibri"/>
              </a:rPr>
              <a:t>Ảnh mờ, thiếu trang, lẫn với tin nhắn khác.</a:t>
            </a:r>
          </a:p>
        </p:txBody>
      </p:sp>
      <p:sp>
        <p:nvSpPr>
          <p:cNvPr id="21" name="Oval 20"/>
          <p:cNvSpPr/>
          <p:nvPr/>
        </p:nvSpPr>
        <p:spPr>
          <a:xfrm>
            <a:off x="4572000" y="3163824"/>
            <a:ext cx="384048" cy="384048"/>
          </a:xfrm>
          <a:prstGeom prst="ellipse">
            <a:avLst/>
          </a:prstGeom>
          <a:solidFill>
            <a:srgbClr val="0F172A"/>
          </a:solidFill>
          <a:ln>
            <a:noFill/>
          </a:ln>
        </p:spPr>
        <p:txBody>
          <a:bodyPr rtlCol="0" anchor="ctr" lIns="0" rIns="0" tIns="0" bIns="0" wrap="square">
            <a:noAutofit/>
          </a:bodyPr>
          <a:lstStyle/>
          <a:p>
            <a:pPr algn="ctr"/>
            <a:r>
              <a:rPr sz="1300" b="1" i="0">
                <a:solidFill>
                  <a:srgbClr val="FFFFFF"/>
                </a:solidFill>
                <a:latin typeface="Calibri"/>
              </a:rPr>
              <a:t>3</a:t>
            </a:r>
          </a:p>
        </p:txBody>
      </p:sp>
      <p:sp>
        <p:nvSpPr>
          <p:cNvPr id="22" name="TextBox 21"/>
          <p:cNvSpPr txBox="1"/>
          <p:nvPr/>
        </p:nvSpPr>
        <p:spPr>
          <a:xfrm>
            <a:off x="5120640" y="3118104"/>
            <a:ext cx="3566160" cy="274320"/>
          </a:xfrm>
          <a:prstGeom prst="rect">
            <a:avLst/>
          </a:prstGeom>
          <a:noFill/>
        </p:spPr>
        <p:txBody>
          <a:bodyPr wrap="square" lIns="0" rIns="0" tIns="0" bIns="0" anchor="t">
            <a:noAutofit/>
          </a:bodyPr>
          <a:lstStyle/>
          <a:p>
            <a:pPr algn="l"/>
            <a:r>
              <a:rPr sz="1400" b="1" i="0">
                <a:solidFill>
                  <a:srgbClr val="0F172A"/>
                </a:solidFill>
                <a:latin typeface="Calibri"/>
              </a:rPr>
              <a:t>Gõ lại vào Excel</a:t>
            </a:r>
          </a:p>
        </p:txBody>
      </p:sp>
      <p:sp>
        <p:nvSpPr>
          <p:cNvPr id="23" name="TextBox 22"/>
          <p:cNvSpPr txBox="1"/>
          <p:nvPr/>
        </p:nvSpPr>
        <p:spPr>
          <a:xfrm>
            <a:off x="5120640" y="3392424"/>
            <a:ext cx="3566160" cy="320040"/>
          </a:xfrm>
          <a:prstGeom prst="rect">
            <a:avLst/>
          </a:prstGeom>
          <a:noFill/>
        </p:spPr>
        <p:txBody>
          <a:bodyPr wrap="square" lIns="0" rIns="0" tIns="0" bIns="0" anchor="t">
            <a:noAutofit/>
          </a:bodyPr>
          <a:lstStyle/>
          <a:p>
            <a:pPr algn="l"/>
            <a:r>
              <a:rPr sz="1200" b="0" i="0">
                <a:solidFill>
                  <a:srgbClr val="64748B"/>
                </a:solidFill>
                <a:latin typeface="Calibri"/>
              </a:rPr>
              <a:t>Gõ tay số hóa đơn, mã số thuế, tiền thuế.</a:t>
            </a:r>
          </a:p>
        </p:txBody>
      </p:sp>
      <p:sp>
        <p:nvSpPr>
          <p:cNvPr id="24" name="Oval 23"/>
          <p:cNvSpPr/>
          <p:nvPr/>
        </p:nvSpPr>
        <p:spPr>
          <a:xfrm>
            <a:off x="4572000" y="3877055"/>
            <a:ext cx="384048" cy="384048"/>
          </a:xfrm>
          <a:prstGeom prst="ellipse">
            <a:avLst/>
          </a:prstGeom>
          <a:solidFill>
            <a:srgbClr val="0F172A"/>
          </a:solidFill>
          <a:ln>
            <a:noFill/>
          </a:ln>
        </p:spPr>
        <p:txBody>
          <a:bodyPr rtlCol="0" anchor="ctr" lIns="0" rIns="0" tIns="0" bIns="0" wrap="square">
            <a:noAutofit/>
          </a:bodyPr>
          <a:lstStyle/>
          <a:p>
            <a:pPr algn="ctr"/>
            <a:r>
              <a:rPr sz="1300" b="1" i="0">
                <a:solidFill>
                  <a:srgbClr val="FFFFFF"/>
                </a:solidFill>
                <a:latin typeface="Calibri"/>
              </a:rPr>
              <a:t>4</a:t>
            </a:r>
          </a:p>
        </p:txBody>
      </p:sp>
      <p:sp>
        <p:nvSpPr>
          <p:cNvPr id="25" name="TextBox 24"/>
          <p:cNvSpPr txBox="1"/>
          <p:nvPr/>
        </p:nvSpPr>
        <p:spPr>
          <a:xfrm>
            <a:off x="5120640" y="3831335"/>
            <a:ext cx="3566160" cy="274320"/>
          </a:xfrm>
          <a:prstGeom prst="rect">
            <a:avLst/>
          </a:prstGeom>
          <a:noFill/>
        </p:spPr>
        <p:txBody>
          <a:bodyPr wrap="square" lIns="0" rIns="0" tIns="0" bIns="0" anchor="t">
            <a:noAutofit/>
          </a:bodyPr>
          <a:lstStyle/>
          <a:p>
            <a:pPr algn="l"/>
            <a:r>
              <a:rPr sz="1400" b="1" i="0">
                <a:solidFill>
                  <a:srgbClr val="0F172A"/>
                </a:solidFill>
                <a:latin typeface="Calibri"/>
              </a:rPr>
              <a:t>Dò điều kiện bằng mắt</a:t>
            </a:r>
          </a:p>
        </p:txBody>
      </p:sp>
      <p:sp>
        <p:nvSpPr>
          <p:cNvPr id="26" name="TextBox 25"/>
          <p:cNvSpPr txBox="1"/>
          <p:nvPr/>
        </p:nvSpPr>
        <p:spPr>
          <a:xfrm>
            <a:off x="5120640" y="4105655"/>
            <a:ext cx="3566160" cy="320040"/>
          </a:xfrm>
          <a:prstGeom prst="rect">
            <a:avLst/>
          </a:prstGeom>
          <a:noFill/>
        </p:spPr>
        <p:txBody>
          <a:bodyPr wrap="square" lIns="0" rIns="0" tIns="0" bIns="0" anchor="t">
            <a:noAutofit/>
          </a:bodyPr>
          <a:lstStyle/>
          <a:p>
            <a:pPr algn="l"/>
            <a:r>
              <a:rPr sz="1200" b="0" i="0">
                <a:solidFill>
                  <a:srgbClr val="64748B"/>
                </a:solidFill>
                <a:latin typeface="Calibri"/>
              </a:rPr>
              <a:t>Ngày lập, cách trả tiền, ngưỡng, người bán.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NỖI ĐAU</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Bốn chỗ đau, chỗ nào cũng tốn tiền</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3</a:t>
            </a:r>
          </a:p>
        </p:txBody>
      </p:sp>
      <p:sp>
        <p:nvSpPr>
          <p:cNvPr id="6" name="Rounded Rectangle 5"/>
          <p:cNvSpPr/>
          <p:nvPr/>
        </p:nvSpPr>
        <p:spPr>
          <a:xfrm>
            <a:off x="457200" y="1188720"/>
            <a:ext cx="4023360" cy="1508760"/>
          </a:xfrm>
          <a:prstGeom prst="roundRect">
            <a:avLst>
              <a:gd name="adj" fmla="val 6000"/>
            </a:avLst>
          </a:prstGeom>
          <a:solidFill>
            <a:srgbClr val="FFE4E6"/>
          </a:solidFill>
          <a:ln>
            <a:noFill/>
          </a:ln>
        </p:spPr>
        <p:txBody>
          <a:bodyPr rtlCol="0" anchor="ctr" lIns="109728" rIns="109728" tIns="54864" bIns="54864"/>
          <a:lstStyle/>
          <a:p>
            <a:pPr algn="ctr"/>
          </a:p>
        </p:txBody>
      </p:sp>
      <p:sp>
        <p:nvSpPr>
          <p:cNvPr id="7" name="Oval 6"/>
          <p:cNvSpPr/>
          <p:nvPr/>
        </p:nvSpPr>
        <p:spPr>
          <a:xfrm>
            <a:off x="658368" y="1417320"/>
            <a:ext cx="420624" cy="420624"/>
          </a:xfrm>
          <a:prstGeom prst="ellipse">
            <a:avLst/>
          </a:prstGeom>
          <a:solidFill>
            <a:srgbClr val="BE123C"/>
          </a:solidFill>
          <a:ln>
            <a:noFill/>
          </a:ln>
        </p:spPr>
        <p:txBody>
          <a:bodyPr rtlCol="0" anchor="ctr" lIns="0" rIns="0" tIns="0" bIns="0" wrap="square">
            <a:noAutofit/>
          </a:bodyPr>
          <a:lstStyle/>
          <a:p>
            <a:pPr algn="ctr"/>
            <a:r>
              <a:rPr sz="1400" b="1" i="0">
                <a:solidFill>
                  <a:srgbClr val="FFFFFF"/>
                </a:solidFill>
                <a:latin typeface="Calibri"/>
              </a:rPr>
              <a:t>1</a:t>
            </a:r>
          </a:p>
        </p:txBody>
      </p:sp>
      <p:sp>
        <p:nvSpPr>
          <p:cNvPr id="8" name="TextBox 7"/>
          <p:cNvSpPr txBox="1"/>
          <p:nvPr/>
        </p:nvSpPr>
        <p:spPr>
          <a:xfrm>
            <a:off x="1234440" y="1389888"/>
            <a:ext cx="3108960" cy="502920"/>
          </a:xfrm>
          <a:prstGeom prst="rect">
            <a:avLst/>
          </a:prstGeom>
          <a:noFill/>
        </p:spPr>
        <p:txBody>
          <a:bodyPr wrap="square" lIns="0" rIns="0" tIns="0" bIns="0" anchor="t">
            <a:noAutofit/>
          </a:bodyPr>
          <a:lstStyle/>
          <a:p>
            <a:pPr algn="l"/>
            <a:r>
              <a:rPr sz="1500" b="1" i="0">
                <a:solidFill>
                  <a:srgbClr val="0F172A"/>
                </a:solidFill>
                <a:latin typeface="Calibri"/>
              </a:rPr>
              <a:t>Mất tiền thuế vì sai một điều kiện</a:t>
            </a:r>
          </a:p>
        </p:txBody>
      </p:sp>
      <p:sp>
        <p:nvSpPr>
          <p:cNvPr id="9" name="TextBox 8"/>
          <p:cNvSpPr txBox="1"/>
          <p:nvPr/>
        </p:nvSpPr>
        <p:spPr>
          <a:xfrm>
            <a:off x="1234440" y="1920240"/>
            <a:ext cx="3108960" cy="731520"/>
          </a:xfrm>
          <a:prstGeom prst="rect">
            <a:avLst/>
          </a:prstGeom>
          <a:noFill/>
        </p:spPr>
        <p:txBody>
          <a:bodyPr wrap="square" lIns="0" rIns="0" tIns="0" bIns="0" anchor="t">
            <a:noAutofit/>
          </a:bodyPr>
          <a:lstStyle/>
          <a:p>
            <a:pPr algn="l"/>
            <a:r>
              <a:rPr sz="1250" b="0" i="0">
                <a:solidFill>
                  <a:srgbClr val="334155"/>
                </a:solidFill>
                <a:latin typeface="Calibri"/>
              </a:rPr>
              <a:t>Hóa đơn 6 triệu trả tiền mặt, lập sau 01/7/2025: không được khấu trừ. Ngưỡng nay là 5 triệu.</a:t>
            </a:r>
          </a:p>
        </p:txBody>
      </p:sp>
      <p:sp>
        <p:nvSpPr>
          <p:cNvPr id="10" name="Rounded Rectangle 9"/>
          <p:cNvSpPr/>
          <p:nvPr/>
        </p:nvSpPr>
        <p:spPr>
          <a:xfrm>
            <a:off x="4663440" y="1188720"/>
            <a:ext cx="4023360" cy="1508760"/>
          </a:xfrm>
          <a:prstGeom prst="roundRect">
            <a:avLst>
              <a:gd name="adj" fmla="val 6000"/>
            </a:avLst>
          </a:prstGeom>
          <a:solidFill>
            <a:srgbClr val="FEF3C7"/>
          </a:solidFill>
          <a:ln>
            <a:noFill/>
          </a:ln>
        </p:spPr>
        <p:txBody>
          <a:bodyPr rtlCol="0" anchor="ctr" lIns="109728" rIns="109728" tIns="54864" bIns="54864"/>
          <a:lstStyle/>
          <a:p>
            <a:pPr algn="ctr"/>
          </a:p>
        </p:txBody>
      </p:sp>
      <p:sp>
        <p:nvSpPr>
          <p:cNvPr id="11" name="Oval 10"/>
          <p:cNvSpPr/>
          <p:nvPr/>
        </p:nvSpPr>
        <p:spPr>
          <a:xfrm>
            <a:off x="4864607" y="1417320"/>
            <a:ext cx="420624" cy="420624"/>
          </a:xfrm>
          <a:prstGeom prst="ellipse">
            <a:avLst/>
          </a:prstGeom>
          <a:solidFill>
            <a:srgbClr val="B45309"/>
          </a:solidFill>
          <a:ln>
            <a:noFill/>
          </a:ln>
        </p:spPr>
        <p:txBody>
          <a:bodyPr rtlCol="0" anchor="ctr" lIns="0" rIns="0" tIns="0" bIns="0" wrap="square">
            <a:noAutofit/>
          </a:bodyPr>
          <a:lstStyle/>
          <a:p>
            <a:pPr algn="ctr"/>
            <a:r>
              <a:rPr sz="1400" b="1" i="0">
                <a:solidFill>
                  <a:srgbClr val="FFFFFF"/>
                </a:solidFill>
                <a:latin typeface="Calibri"/>
              </a:rPr>
              <a:t>2</a:t>
            </a:r>
          </a:p>
        </p:txBody>
      </p:sp>
      <p:sp>
        <p:nvSpPr>
          <p:cNvPr id="12" name="TextBox 11"/>
          <p:cNvSpPr txBox="1"/>
          <p:nvPr/>
        </p:nvSpPr>
        <p:spPr>
          <a:xfrm>
            <a:off x="5440679" y="1389888"/>
            <a:ext cx="3108960" cy="502920"/>
          </a:xfrm>
          <a:prstGeom prst="rect">
            <a:avLst/>
          </a:prstGeom>
          <a:noFill/>
        </p:spPr>
        <p:txBody>
          <a:bodyPr wrap="square" lIns="0" rIns="0" tIns="0" bIns="0" anchor="t">
            <a:noAutofit/>
          </a:bodyPr>
          <a:lstStyle/>
          <a:p>
            <a:pPr algn="l"/>
            <a:r>
              <a:rPr sz="1500" b="1" i="0">
                <a:solidFill>
                  <a:srgbClr val="0F172A"/>
                </a:solidFill>
                <a:latin typeface="Calibri"/>
              </a:rPr>
              <a:t>Duyệt bừa, hoặc dồn hết lên sếp</a:t>
            </a:r>
          </a:p>
        </p:txBody>
      </p:sp>
      <p:sp>
        <p:nvSpPr>
          <p:cNvPr id="13" name="TextBox 12"/>
          <p:cNvSpPr txBox="1"/>
          <p:nvPr/>
        </p:nvSpPr>
        <p:spPr>
          <a:xfrm>
            <a:off x="5440679" y="1920240"/>
            <a:ext cx="3108960" cy="731520"/>
          </a:xfrm>
          <a:prstGeom prst="rect">
            <a:avLst/>
          </a:prstGeom>
          <a:noFill/>
        </p:spPr>
        <p:txBody>
          <a:bodyPr wrap="square" lIns="0" rIns="0" tIns="0" bIns="0" anchor="t">
            <a:noAutofit/>
          </a:bodyPr>
          <a:lstStyle/>
          <a:p>
            <a:pPr algn="l"/>
            <a:r>
              <a:rPr sz="1250" b="0" i="0">
                <a:solidFill>
                  <a:srgbClr val="334155"/>
                </a:solidFill>
                <a:latin typeface="Calibri"/>
              </a:rPr>
              <a:t>Cho qua hết thì thanh tra loại. Cái gì cũng hỏi thì sếp nghẽn cuối tháng.</a:t>
            </a:r>
          </a:p>
        </p:txBody>
      </p:sp>
      <p:sp>
        <p:nvSpPr>
          <p:cNvPr id="14" name="Rounded Rectangle 13"/>
          <p:cNvSpPr/>
          <p:nvPr/>
        </p:nvSpPr>
        <p:spPr>
          <a:xfrm>
            <a:off x="457200" y="2880360"/>
            <a:ext cx="4023360" cy="1508760"/>
          </a:xfrm>
          <a:prstGeom prst="roundRect">
            <a:avLst>
              <a:gd name="adj" fmla="val 6000"/>
            </a:avLst>
          </a:prstGeom>
          <a:solidFill>
            <a:srgbClr val="FFE4E6"/>
          </a:solidFill>
          <a:ln>
            <a:noFill/>
          </a:ln>
        </p:spPr>
        <p:txBody>
          <a:bodyPr rtlCol="0" anchor="ctr" lIns="109728" rIns="109728" tIns="54864" bIns="54864"/>
          <a:lstStyle/>
          <a:p>
            <a:pPr algn="ctr"/>
          </a:p>
        </p:txBody>
      </p:sp>
      <p:sp>
        <p:nvSpPr>
          <p:cNvPr id="15" name="Oval 14"/>
          <p:cNvSpPr/>
          <p:nvPr/>
        </p:nvSpPr>
        <p:spPr>
          <a:xfrm>
            <a:off x="658368" y="3108960"/>
            <a:ext cx="420624" cy="420624"/>
          </a:xfrm>
          <a:prstGeom prst="ellipse">
            <a:avLst/>
          </a:prstGeom>
          <a:solidFill>
            <a:srgbClr val="BE123C"/>
          </a:solidFill>
          <a:ln>
            <a:noFill/>
          </a:ln>
        </p:spPr>
        <p:txBody>
          <a:bodyPr rtlCol="0" anchor="ctr" lIns="0" rIns="0" tIns="0" bIns="0" wrap="square">
            <a:noAutofit/>
          </a:bodyPr>
          <a:lstStyle/>
          <a:p>
            <a:pPr algn="ctr"/>
            <a:r>
              <a:rPr sz="1400" b="1" i="0">
                <a:solidFill>
                  <a:srgbClr val="FFFFFF"/>
                </a:solidFill>
                <a:latin typeface="Calibri"/>
              </a:rPr>
              <a:t>3</a:t>
            </a:r>
          </a:p>
        </p:txBody>
      </p:sp>
      <p:sp>
        <p:nvSpPr>
          <p:cNvPr id="16" name="TextBox 15"/>
          <p:cNvSpPr txBox="1"/>
          <p:nvPr/>
        </p:nvSpPr>
        <p:spPr>
          <a:xfrm>
            <a:off x="1234440" y="3081528"/>
            <a:ext cx="3108960" cy="502920"/>
          </a:xfrm>
          <a:prstGeom prst="rect">
            <a:avLst/>
          </a:prstGeom>
          <a:noFill/>
        </p:spPr>
        <p:txBody>
          <a:bodyPr wrap="square" lIns="0" rIns="0" tIns="0" bIns="0" anchor="t">
            <a:noAutofit/>
          </a:bodyPr>
          <a:lstStyle/>
          <a:p>
            <a:pPr algn="l"/>
            <a:r>
              <a:rPr sz="1500" b="1" i="0">
                <a:solidFill>
                  <a:srgbClr val="0F172A"/>
                </a:solidFill>
                <a:latin typeface="Calibri"/>
              </a:rPr>
              <a:t>Không biết ai gửi hóa đơn</a:t>
            </a:r>
          </a:p>
        </p:txBody>
      </p:sp>
      <p:sp>
        <p:nvSpPr>
          <p:cNvPr id="17" name="TextBox 16"/>
          <p:cNvSpPr txBox="1"/>
          <p:nvPr/>
        </p:nvSpPr>
        <p:spPr>
          <a:xfrm>
            <a:off x="1234440" y="3611880"/>
            <a:ext cx="3108960" cy="731520"/>
          </a:xfrm>
          <a:prstGeom prst="rect">
            <a:avLst/>
          </a:prstGeom>
          <a:noFill/>
        </p:spPr>
        <p:txBody>
          <a:bodyPr wrap="square" lIns="0" rIns="0" tIns="0" bIns="0" anchor="t">
            <a:noAutofit/>
          </a:bodyPr>
          <a:lstStyle/>
          <a:p>
            <a:pPr algn="l"/>
            <a:r>
              <a:rPr sz="1250" b="0" i="0">
                <a:solidFill>
                  <a:srgbClr val="334155"/>
                </a:solidFill>
                <a:latin typeface="Calibri"/>
              </a:rPr>
              <a:t>Qua mail, Zalo, ai cũng có thể giả danh nhà cung cấp để lọt hóa đơn giả.</a:t>
            </a:r>
          </a:p>
        </p:txBody>
      </p:sp>
      <p:sp>
        <p:nvSpPr>
          <p:cNvPr id="18" name="Rounded Rectangle 17"/>
          <p:cNvSpPr/>
          <p:nvPr/>
        </p:nvSpPr>
        <p:spPr>
          <a:xfrm>
            <a:off x="4663440" y="2880360"/>
            <a:ext cx="4023360" cy="1508760"/>
          </a:xfrm>
          <a:prstGeom prst="roundRect">
            <a:avLst>
              <a:gd name="adj" fmla="val 6000"/>
            </a:avLst>
          </a:prstGeom>
          <a:solidFill>
            <a:srgbClr val="FEF3C7"/>
          </a:solidFill>
          <a:ln>
            <a:noFill/>
          </a:ln>
        </p:spPr>
        <p:txBody>
          <a:bodyPr rtlCol="0" anchor="ctr" lIns="109728" rIns="109728" tIns="54864" bIns="54864"/>
          <a:lstStyle/>
          <a:p>
            <a:pPr algn="ctr"/>
          </a:p>
        </p:txBody>
      </p:sp>
      <p:sp>
        <p:nvSpPr>
          <p:cNvPr id="19" name="Oval 18"/>
          <p:cNvSpPr/>
          <p:nvPr/>
        </p:nvSpPr>
        <p:spPr>
          <a:xfrm>
            <a:off x="4864607" y="3108960"/>
            <a:ext cx="420624" cy="420624"/>
          </a:xfrm>
          <a:prstGeom prst="ellipse">
            <a:avLst/>
          </a:prstGeom>
          <a:solidFill>
            <a:srgbClr val="B45309"/>
          </a:solidFill>
          <a:ln>
            <a:noFill/>
          </a:ln>
        </p:spPr>
        <p:txBody>
          <a:bodyPr rtlCol="0" anchor="ctr" lIns="0" rIns="0" tIns="0" bIns="0" wrap="square">
            <a:noAutofit/>
          </a:bodyPr>
          <a:lstStyle/>
          <a:p>
            <a:pPr algn="ctr"/>
            <a:r>
              <a:rPr sz="1400" b="1" i="0">
                <a:solidFill>
                  <a:srgbClr val="FFFFFF"/>
                </a:solidFill>
                <a:latin typeface="Calibri"/>
              </a:rPr>
              <a:t>4</a:t>
            </a:r>
          </a:p>
        </p:txBody>
      </p:sp>
      <p:sp>
        <p:nvSpPr>
          <p:cNvPr id="20" name="TextBox 19"/>
          <p:cNvSpPr txBox="1"/>
          <p:nvPr/>
        </p:nvSpPr>
        <p:spPr>
          <a:xfrm>
            <a:off x="5440679" y="3081528"/>
            <a:ext cx="3108960" cy="502920"/>
          </a:xfrm>
          <a:prstGeom prst="rect">
            <a:avLst/>
          </a:prstGeom>
          <a:noFill/>
        </p:spPr>
        <p:txBody>
          <a:bodyPr wrap="square" lIns="0" rIns="0" tIns="0" bIns="0" anchor="t">
            <a:noAutofit/>
          </a:bodyPr>
          <a:lstStyle/>
          <a:p>
            <a:pPr algn="l"/>
            <a:r>
              <a:rPr sz="1500" b="1" i="0">
                <a:solidFill>
                  <a:srgbClr val="0F172A"/>
                </a:solidFill>
                <a:latin typeface="Calibri"/>
              </a:rPr>
              <a:t>Sếp không thấy toàn cảnh</a:t>
            </a:r>
          </a:p>
        </p:txBody>
      </p:sp>
      <p:sp>
        <p:nvSpPr>
          <p:cNvPr id="21" name="TextBox 20"/>
          <p:cNvSpPr txBox="1"/>
          <p:nvPr/>
        </p:nvSpPr>
        <p:spPr>
          <a:xfrm>
            <a:off x="5440679" y="3611880"/>
            <a:ext cx="3108960" cy="731520"/>
          </a:xfrm>
          <a:prstGeom prst="rect">
            <a:avLst/>
          </a:prstGeom>
          <a:noFill/>
        </p:spPr>
        <p:txBody>
          <a:bodyPr wrap="square" lIns="0" rIns="0" tIns="0" bIns="0" anchor="t">
            <a:noAutofit/>
          </a:bodyPr>
          <a:lstStyle/>
          <a:p>
            <a:pPr algn="l"/>
            <a:r>
              <a:rPr sz="1250" b="0" i="0">
                <a:solidFill>
                  <a:srgbClr val="334155"/>
                </a:solidFill>
                <a:latin typeface="Calibri"/>
              </a:rPr>
              <a:t>Lô nào đang kẹt, chờ ai, vì sao: chỉ biết khi đã có chuyện.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PHƯƠNG PHÁP</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Quy tắc quyết định, AI chỉ đọc, người chốt</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4</a:t>
            </a:r>
          </a:p>
        </p:txBody>
      </p:sp>
      <p:sp>
        <p:nvSpPr>
          <p:cNvPr id="6" name="Rounded Rectangle 5"/>
          <p:cNvSpPr/>
          <p:nvPr/>
        </p:nvSpPr>
        <p:spPr>
          <a:xfrm>
            <a:off x="457200" y="1188720"/>
            <a:ext cx="3749039" cy="2057400"/>
          </a:xfrm>
          <a:prstGeom prst="roundRect">
            <a:avLst>
              <a:gd name="adj" fmla="val 8000"/>
            </a:avLst>
          </a:prstGeom>
          <a:solidFill>
            <a:srgbClr val="F1F5F9"/>
          </a:solidFill>
          <a:ln>
            <a:noFill/>
          </a:ln>
        </p:spPr>
        <p:txBody>
          <a:bodyPr rtlCol="0" anchor="ctr" lIns="228600" rIns="228600" tIns="54864" bIns="54864" wrap="square">
            <a:noAutofit/>
          </a:bodyPr>
          <a:lstStyle/>
          <a:p>
            <a:pPr algn="l">
              <a:spcAft>
                <a:spcPts val="800"/>
              </a:spcAft>
            </a:pPr>
            <a:r>
              <a:rPr sz="1300" b="1" i="0">
                <a:solidFill>
                  <a:srgbClr val="4D7C0F"/>
                </a:solidFill>
                <a:latin typeface="Calibri"/>
              </a:rPr>
              <a:t>Giống cô giáo chấm bài</a:t>
            </a:r>
          </a:p>
          <a:p>
            <a:pPr algn="l"/>
            <a:r>
              <a:rPr sz="1700" b="0" i="1">
                <a:solidFill>
                  <a:srgbClr val="0F172A"/>
                </a:solidFill>
                <a:latin typeface="Cambria"/>
              </a:rPr>
              <a:t>Bài đúng hết thì cho điểm luôn. Bài sai chỗ nào thì khoanh đỏ đúng chỗ đó và hỏi lại.</a:t>
            </a:r>
          </a:p>
        </p:txBody>
      </p:sp>
      <p:sp>
        <p:nvSpPr>
          <p:cNvPr id="7" name="TextBox 6"/>
          <p:cNvSpPr txBox="1"/>
          <p:nvPr/>
        </p:nvSpPr>
        <p:spPr>
          <a:xfrm>
            <a:off x="457200" y="3474720"/>
            <a:ext cx="3749039" cy="1005840"/>
          </a:xfrm>
          <a:prstGeom prst="rect">
            <a:avLst/>
          </a:prstGeom>
          <a:noFill/>
        </p:spPr>
        <p:txBody>
          <a:bodyPr wrap="square" lIns="0" rIns="0" tIns="0" bIns="0" anchor="t">
            <a:noAutofit/>
          </a:bodyPr>
          <a:lstStyle/>
          <a:p>
            <a:pPr algn="l">
              <a:spcAft>
                <a:spcPts val="400"/>
              </a:spcAft>
            </a:pPr>
            <a:r>
              <a:rPr sz="1300" b="1" i="0">
                <a:solidFill>
                  <a:srgbClr val="0F172A"/>
                </a:solidFill>
                <a:latin typeface="Calibri"/>
              </a:rPr>
              <a:t>Ba kiểu dừng, nói rõ lý do:</a:t>
            </a:r>
          </a:p>
          <a:p>
            <a:pPr algn="l"/>
            <a:r>
              <a:rPr sz="1300" b="1" i="0">
                <a:solidFill>
                  <a:srgbClr val="BE123C"/>
                </a:solidFill>
                <a:latin typeface="Calibri"/>
              </a:rPr>
              <a:t>chưa rõ thông tin · ngoài quy định · vượt thẩm quyền.</a:t>
            </a:r>
          </a:p>
        </p:txBody>
      </p:sp>
      <p:sp>
        <p:nvSpPr>
          <p:cNvPr id="8" name="Oval 7"/>
          <p:cNvSpPr/>
          <p:nvPr/>
        </p:nvSpPr>
        <p:spPr>
          <a:xfrm>
            <a:off x="4572000" y="1261872"/>
            <a:ext cx="457200" cy="457200"/>
          </a:xfrm>
          <a:prstGeom prst="ellipse">
            <a:avLst/>
          </a:prstGeom>
          <a:solidFill>
            <a:srgbClr val="0F172A"/>
          </a:solidFill>
          <a:ln>
            <a:noFill/>
          </a:ln>
        </p:spPr>
        <p:txBody>
          <a:bodyPr rtlCol="0" anchor="ctr" lIns="0" rIns="0" tIns="0" bIns="0" wrap="square">
            <a:noAutofit/>
          </a:bodyPr>
          <a:lstStyle/>
          <a:p>
            <a:pPr algn="ctr"/>
            <a:r>
              <a:rPr sz="1500" b="1" i="0">
                <a:solidFill>
                  <a:srgbClr val="FFFFFF"/>
                </a:solidFill>
                <a:latin typeface="Calibri"/>
              </a:rPr>
              <a:t>1</a:t>
            </a:r>
          </a:p>
        </p:txBody>
      </p:sp>
      <p:sp>
        <p:nvSpPr>
          <p:cNvPr id="9" name="TextBox 8"/>
          <p:cNvSpPr txBox="1"/>
          <p:nvPr/>
        </p:nvSpPr>
        <p:spPr>
          <a:xfrm>
            <a:off x="5212080" y="1207008"/>
            <a:ext cx="3474720" cy="320040"/>
          </a:xfrm>
          <a:prstGeom prst="rect">
            <a:avLst/>
          </a:prstGeom>
          <a:noFill/>
        </p:spPr>
        <p:txBody>
          <a:bodyPr wrap="square" lIns="0" rIns="0" tIns="0" bIns="0" anchor="t">
            <a:noAutofit/>
          </a:bodyPr>
          <a:lstStyle/>
          <a:p>
            <a:pPr algn="l"/>
            <a:r>
              <a:rPr sz="1600" b="1" i="0">
                <a:solidFill>
                  <a:srgbClr val="0F172A"/>
                </a:solidFill>
                <a:latin typeface="Calibri"/>
              </a:rPr>
              <a:t>Quy tắc quyết định</a:t>
            </a:r>
          </a:p>
        </p:txBody>
      </p:sp>
      <p:sp>
        <p:nvSpPr>
          <p:cNvPr id="10" name="TextBox 9"/>
          <p:cNvSpPr txBox="1"/>
          <p:nvPr/>
        </p:nvSpPr>
        <p:spPr>
          <a:xfrm>
            <a:off x="5212080" y="1554480"/>
            <a:ext cx="3474720" cy="640080"/>
          </a:xfrm>
          <a:prstGeom prst="rect">
            <a:avLst/>
          </a:prstGeom>
          <a:noFill/>
        </p:spPr>
        <p:txBody>
          <a:bodyPr wrap="square" lIns="0" rIns="0" tIns="0" bIns="0" anchor="t">
            <a:noAutofit/>
          </a:bodyPr>
          <a:lstStyle/>
          <a:p>
            <a:pPr algn="l"/>
            <a:r>
              <a:rPr sz="1250" b="0" i="0">
                <a:solidFill>
                  <a:srgbClr val="334155"/>
                </a:solidFill>
                <a:latin typeface="Calibri"/>
              </a:rPr>
              <a:t>Bộ quy tắc viết sẵn theo luật. Cùng dữ liệu, cùng quy chế thì ra cùng kết quả.</a:t>
            </a:r>
          </a:p>
        </p:txBody>
      </p:sp>
      <p:sp>
        <p:nvSpPr>
          <p:cNvPr id="11" name="Oval 10"/>
          <p:cNvSpPr/>
          <p:nvPr/>
        </p:nvSpPr>
        <p:spPr>
          <a:xfrm>
            <a:off x="4572000" y="2377440"/>
            <a:ext cx="457200" cy="457200"/>
          </a:xfrm>
          <a:prstGeom prst="ellipse">
            <a:avLst/>
          </a:prstGeom>
          <a:solidFill>
            <a:srgbClr val="2F4FB3"/>
          </a:solidFill>
          <a:ln>
            <a:noFill/>
          </a:ln>
        </p:spPr>
        <p:txBody>
          <a:bodyPr rtlCol="0" anchor="ctr" lIns="0" rIns="0" tIns="0" bIns="0" wrap="square">
            <a:noAutofit/>
          </a:bodyPr>
          <a:lstStyle/>
          <a:p>
            <a:pPr algn="ctr"/>
            <a:r>
              <a:rPr sz="1500" b="1" i="0">
                <a:solidFill>
                  <a:srgbClr val="FFFFFF"/>
                </a:solidFill>
                <a:latin typeface="Calibri"/>
              </a:rPr>
              <a:t>2</a:t>
            </a:r>
          </a:p>
        </p:txBody>
      </p:sp>
      <p:sp>
        <p:nvSpPr>
          <p:cNvPr id="12" name="TextBox 11"/>
          <p:cNvSpPr txBox="1"/>
          <p:nvPr/>
        </p:nvSpPr>
        <p:spPr>
          <a:xfrm>
            <a:off x="5212080" y="2322576"/>
            <a:ext cx="3474720" cy="320040"/>
          </a:xfrm>
          <a:prstGeom prst="rect">
            <a:avLst/>
          </a:prstGeom>
          <a:noFill/>
        </p:spPr>
        <p:txBody>
          <a:bodyPr wrap="square" lIns="0" rIns="0" tIns="0" bIns="0" anchor="t">
            <a:noAutofit/>
          </a:bodyPr>
          <a:lstStyle/>
          <a:p>
            <a:pPr algn="l"/>
            <a:r>
              <a:rPr sz="1600" b="1" i="0">
                <a:solidFill>
                  <a:srgbClr val="0F172A"/>
                </a:solidFill>
                <a:latin typeface="Calibri"/>
              </a:rPr>
              <a:t>AI chỉ đọc</a:t>
            </a:r>
          </a:p>
        </p:txBody>
      </p:sp>
      <p:sp>
        <p:nvSpPr>
          <p:cNvPr id="13" name="TextBox 12"/>
          <p:cNvSpPr txBox="1"/>
          <p:nvPr/>
        </p:nvSpPr>
        <p:spPr>
          <a:xfrm>
            <a:off x="5212080" y="2670048"/>
            <a:ext cx="3474720" cy="640080"/>
          </a:xfrm>
          <a:prstGeom prst="rect">
            <a:avLst/>
          </a:prstGeom>
          <a:noFill/>
        </p:spPr>
        <p:txBody>
          <a:bodyPr wrap="square" lIns="0" rIns="0" tIns="0" bIns="0" anchor="t">
            <a:noAutofit/>
          </a:bodyPr>
          <a:lstStyle/>
          <a:p>
            <a:pPr algn="l"/>
            <a:r>
              <a:rPr sz="1250" b="0" i="0">
                <a:solidFill>
                  <a:srgbClr val="334155"/>
                </a:solidFill>
                <a:latin typeface="Calibri"/>
              </a:rPr>
              <a:t>AI chỉ chép chữ trên ảnh vào ô có sẵn. AI không được duyệt, không được từ chối.</a:t>
            </a:r>
          </a:p>
        </p:txBody>
      </p:sp>
      <p:sp>
        <p:nvSpPr>
          <p:cNvPr id="14" name="Oval 13"/>
          <p:cNvSpPr/>
          <p:nvPr/>
        </p:nvSpPr>
        <p:spPr>
          <a:xfrm>
            <a:off x="4572000" y="3493008"/>
            <a:ext cx="457200" cy="457200"/>
          </a:xfrm>
          <a:prstGeom prst="ellipse">
            <a:avLst/>
          </a:prstGeom>
          <a:solidFill>
            <a:srgbClr val="4D7C0F"/>
          </a:solidFill>
          <a:ln>
            <a:noFill/>
          </a:ln>
        </p:spPr>
        <p:txBody>
          <a:bodyPr rtlCol="0" anchor="ctr" lIns="0" rIns="0" tIns="0" bIns="0" wrap="square">
            <a:noAutofit/>
          </a:bodyPr>
          <a:lstStyle/>
          <a:p>
            <a:pPr algn="ctr"/>
            <a:r>
              <a:rPr sz="1500" b="1" i="0">
                <a:solidFill>
                  <a:srgbClr val="FFFFFF"/>
                </a:solidFill>
                <a:latin typeface="Calibri"/>
              </a:rPr>
              <a:t>3</a:t>
            </a:r>
          </a:p>
        </p:txBody>
      </p:sp>
      <p:sp>
        <p:nvSpPr>
          <p:cNvPr id="15" name="TextBox 14"/>
          <p:cNvSpPr txBox="1"/>
          <p:nvPr/>
        </p:nvSpPr>
        <p:spPr>
          <a:xfrm>
            <a:off x="5212080" y="3438144"/>
            <a:ext cx="3474720" cy="320040"/>
          </a:xfrm>
          <a:prstGeom prst="rect">
            <a:avLst/>
          </a:prstGeom>
          <a:noFill/>
        </p:spPr>
        <p:txBody>
          <a:bodyPr wrap="square" lIns="0" rIns="0" tIns="0" bIns="0" anchor="t">
            <a:noAutofit/>
          </a:bodyPr>
          <a:lstStyle/>
          <a:p>
            <a:pPr algn="l"/>
            <a:r>
              <a:rPr sz="1600" b="1" i="0">
                <a:solidFill>
                  <a:srgbClr val="0F172A"/>
                </a:solidFill>
                <a:latin typeface="Calibri"/>
              </a:rPr>
              <a:t>Người chốt</a:t>
            </a:r>
          </a:p>
        </p:txBody>
      </p:sp>
      <p:sp>
        <p:nvSpPr>
          <p:cNvPr id="16" name="TextBox 15"/>
          <p:cNvSpPr txBox="1"/>
          <p:nvPr/>
        </p:nvSpPr>
        <p:spPr>
          <a:xfrm>
            <a:off x="5212080" y="3785616"/>
            <a:ext cx="3474720" cy="640080"/>
          </a:xfrm>
          <a:prstGeom prst="rect">
            <a:avLst/>
          </a:prstGeom>
          <a:noFill/>
        </p:spPr>
        <p:txBody>
          <a:bodyPr wrap="square" lIns="0" rIns="0" tIns="0" bIns="0" anchor="t">
            <a:noAutofit/>
          </a:bodyPr>
          <a:lstStyle/>
          <a:p>
            <a:pPr algn="l"/>
            <a:r>
              <a:rPr sz="1250" b="0" i="0">
                <a:solidFill>
                  <a:srgbClr val="334155"/>
                </a:solidFill>
                <a:latin typeface="Calibri"/>
              </a:rPr>
              <a:t>Chưa chắc thì dừng và hỏi đúng người. Người có thẩm quyền ký rồi mới ghi sổ.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KIẾN TRÚC · TRẢ LỜI CÂU HỎI 2 CỦA BAN TỔ CHỨC</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Đường đi của một hóa đơn</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5</a:t>
            </a:r>
          </a:p>
        </p:txBody>
      </p:sp>
      <p:pic>
        <p:nvPicPr>
          <p:cNvPr id="6" name="Sơ đồ kiến trúc (Mermaid)" descr="kien-truc-cai-tien.png"/>
          <p:cNvPicPr>
            <a:picLocks noChangeAspect="1"/>
          </p:cNvPicPr>
          <p:nvPr/>
        </p:nvPicPr>
        <p:blipFill>
          <a:blip r:embed="rId3"/>
          <a:stretch>
            <a:fillRect/>
          </a:stretch>
        </p:blipFill>
        <p:spPr>
          <a:xfrm>
            <a:off x="457200" y="1051560"/>
            <a:ext cx="6249722" cy="3520440"/>
          </a:xfrm>
          <a:prstGeom prst="rect">
            <a:avLst/>
          </a:prstGeom>
        </p:spPr>
      </p:pic>
      <p:sp>
        <p:nvSpPr>
          <p:cNvPr id="7" name="Trả lời Q2"/>
          <p:cNvSpPr/>
          <p:nvPr/>
        </p:nvSpPr>
        <p:spPr>
          <a:xfrm>
            <a:off x="7086600" y="1051560"/>
            <a:ext cx="1600200" cy="3474720"/>
          </a:xfrm>
          <a:prstGeom prst="roundRect">
            <a:avLst>
              <a:gd name="adj" fmla="val 5000"/>
            </a:avLst>
          </a:prstGeom>
          <a:solidFill>
            <a:srgbClr val="F1F5F9"/>
          </a:solidFill>
          <a:ln>
            <a:noFill/>
          </a:ln>
        </p:spPr>
        <p:txBody>
          <a:bodyPr rtlCol="0" anchor="t" lIns="109728" rIns="109728" tIns="54864" bIns="54864" wrap="square">
            <a:noAutofit/>
          </a:bodyPr>
          <a:lstStyle/>
          <a:p>
            <a:pPr algn="l">
              <a:spcAft>
                <a:spcPts val="600"/>
              </a:spcAft>
            </a:pPr>
            <a:r>
              <a:rPr sz="1200" b="1" i="0">
                <a:solidFill>
                  <a:srgbClr val="4D7C0F"/>
                </a:solidFill>
                <a:latin typeface="Calibri"/>
              </a:rPr>
              <a:t>Lên production</a:t>
            </a:r>
          </a:p>
          <a:p>
            <a:pPr algn="l">
              <a:spcAft>
                <a:spcPts val="600"/>
              </a:spcAft>
            </a:pPr>
            <a:r>
              <a:rPr sz="1050" b="1" i="0">
                <a:solidFill>
                  <a:srgbClr val="0F172A"/>
                </a:solidFill>
                <a:latin typeface="Calibri"/>
              </a:rPr>
              <a:t>Đánh đổi: </a:t>
            </a:r>
            <a:r>
              <a:rPr sz="1050" b="0" i="0">
                <a:solidFill>
                  <a:srgbClr val="334155"/>
                </a:solidFill>
                <a:latin typeface="Calibri"/>
              </a:rPr>
              <a:t>quy tắc thay vì AI quyết, đổi độ linh hoạt lấy kiểm toán được.</a:t>
            </a:r>
          </a:p>
          <a:p>
            <a:pPr algn="l">
              <a:spcAft>
                <a:spcPts val="600"/>
              </a:spcAft>
            </a:pPr>
            <a:r>
              <a:rPr sz="1050" b="1" i="0">
                <a:solidFill>
                  <a:srgbClr val="0F172A"/>
                </a:solidFill>
                <a:latin typeface="Calibri"/>
              </a:rPr>
              <a:t>Hôm nay: </a:t>
            </a:r>
            <a:r>
              <a:rPr sz="1050" b="0" i="0">
                <a:solidFill>
                  <a:srgbClr val="334155"/>
                </a:solidFill>
                <a:latin typeface="Calibri"/>
              </a:rPr>
              <a:t>một máy, mỗi phiên một SQLite. Nhiều máy thì PostgreSQL.</a:t>
            </a:r>
          </a:p>
          <a:p>
            <a:pPr algn="l">
              <a:spcAft>
                <a:spcPts val="600"/>
              </a:spcAft>
            </a:pPr>
            <a:r>
              <a:rPr sz="1050" b="1" i="0">
                <a:solidFill>
                  <a:srgbClr val="0F172A"/>
                </a:solidFill>
                <a:latin typeface="Calibri"/>
              </a:rPr>
              <a:t>30 ngày: </a:t>
            </a:r>
            <a:r>
              <a:rPr sz="1050" b="0" i="0">
                <a:solidFill>
                  <a:srgbClr val="334155"/>
                </a:solidFill>
                <a:latin typeface="Calibri"/>
              </a:rPr>
              <a:t>SSO, MFA, đọc file ở worker riêng, hàng đợi.</a:t>
            </a:r>
          </a:p>
          <a:p>
            <a:pPr algn="l"/>
            <a:r>
              <a:rPr sz="1050" b="1" i="0">
                <a:solidFill>
                  <a:srgbClr val="0F172A"/>
                </a:solidFill>
                <a:latin typeface="Calibri"/>
              </a:rPr>
              <a:t>90 ngày: </a:t>
            </a:r>
            <a:r>
              <a:rPr sz="1050" b="0" i="0">
                <a:solidFill>
                  <a:srgbClr val="334155"/>
                </a:solidFill>
                <a:latin typeface="Calibri"/>
              </a:rPr>
              <a:t>XML có chữ ký số làm nguồn sự thật.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GIẢI PHÁP 1</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Lô hóa đơn và phiếu giải trình</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6</a:t>
            </a:r>
          </a:p>
        </p:txBody>
      </p:sp>
      <p:pic>
        <p:nvPicPr>
          <p:cNvPr id="6" name="Ảnh màn hình batch" descr="batch.png"/>
          <p:cNvPicPr>
            <a:picLocks noChangeAspect="1"/>
          </p:cNvPicPr>
          <p:nvPr/>
        </p:nvPicPr>
        <p:blipFill>
          <a:blip r:embed="rId3"/>
          <a:stretch>
            <a:fillRect/>
          </a:stretch>
        </p:blipFill>
        <p:spPr>
          <a:xfrm>
            <a:off x="457200" y="1097280"/>
            <a:ext cx="3977639" cy="2236330"/>
          </a:xfrm>
          <a:prstGeom prst="rect">
            <a:avLst/>
          </a:prstGeom>
          <a:ln w="9525">
            <a:solidFill>
              <a:srgbClr val="CBD5E1"/>
            </a:solidFill>
          </a:ln>
        </p:spPr>
      </p:pic>
      <p:pic>
        <p:nvPicPr>
          <p:cNvPr id="7" name="Ảnh màn hình explain" descr="explain.png"/>
          <p:cNvPicPr>
            <a:picLocks noChangeAspect="1"/>
          </p:cNvPicPr>
          <p:nvPr/>
        </p:nvPicPr>
        <p:blipFill>
          <a:blip r:embed="rId4"/>
          <a:stretch>
            <a:fillRect/>
          </a:stretch>
        </p:blipFill>
        <p:spPr>
          <a:xfrm>
            <a:off x="4709160" y="1097280"/>
            <a:ext cx="3977639" cy="2236330"/>
          </a:xfrm>
          <a:prstGeom prst="rect">
            <a:avLst/>
          </a:prstGeom>
          <a:ln w="9525">
            <a:solidFill>
              <a:srgbClr val="CBD5E1"/>
            </a:solidFill>
          </a:ln>
        </p:spPr>
      </p:pic>
      <p:sp>
        <p:nvSpPr>
          <p:cNvPr id="8" name="TextBox 7"/>
          <p:cNvSpPr txBox="1"/>
          <p:nvPr/>
        </p:nvSpPr>
        <p:spPr>
          <a:xfrm>
            <a:off x="457200" y="3520440"/>
            <a:ext cx="3977639" cy="1005840"/>
          </a:xfrm>
          <a:prstGeom prst="rect">
            <a:avLst/>
          </a:prstGeom>
          <a:noFill/>
        </p:spPr>
        <p:txBody>
          <a:bodyPr wrap="square" lIns="0" rIns="0" tIns="0" bIns="0" anchor="t">
            <a:noAutofit/>
          </a:bodyPr>
          <a:lstStyle/>
          <a:p>
            <a:pPr algn="l">
              <a:spcAft>
                <a:spcPts val="300"/>
              </a:spcAft>
            </a:pPr>
            <a:r>
              <a:rPr sz="1400" b="1" i="0">
                <a:solidFill>
                  <a:srgbClr val="0F172A"/>
                </a:solidFill>
                <a:latin typeface="Calibri"/>
              </a:rPr>
              <a:t>Lô hóa đơn</a:t>
            </a:r>
          </a:p>
          <a:p>
            <a:pPr algn="l"/>
            <a:r>
              <a:rPr sz="1250" b="0" i="0">
                <a:solidFill>
                  <a:srgbClr val="334155"/>
                </a:solidFill>
                <a:latin typeface="Calibri"/>
              </a:rPr>
              <a:t>Xếp theo mã số thuế, ngày, số. Nhận ra hóa đơn trùng. Một hóa đơn chỉ nằm một lô, không ghi sổ hai lần.</a:t>
            </a:r>
          </a:p>
        </p:txBody>
      </p:sp>
      <p:sp>
        <p:nvSpPr>
          <p:cNvPr id="9" name="TextBox 8"/>
          <p:cNvSpPr txBox="1"/>
          <p:nvPr/>
        </p:nvSpPr>
        <p:spPr>
          <a:xfrm>
            <a:off x="4709160" y="3520440"/>
            <a:ext cx="3977639" cy="1005840"/>
          </a:xfrm>
          <a:prstGeom prst="rect">
            <a:avLst/>
          </a:prstGeom>
          <a:noFill/>
        </p:spPr>
        <p:txBody>
          <a:bodyPr wrap="square" lIns="0" rIns="0" tIns="0" bIns="0" anchor="t">
            <a:noAutofit/>
          </a:bodyPr>
          <a:lstStyle/>
          <a:p>
            <a:pPr algn="l">
              <a:spcAft>
                <a:spcPts val="300"/>
              </a:spcAft>
            </a:pPr>
            <a:r>
              <a:rPr sz="1400" b="1" i="0">
                <a:solidFill>
                  <a:srgbClr val="0F172A"/>
                </a:solidFill>
                <a:latin typeface="Calibri"/>
              </a:rPr>
              <a:t>Phiếu giải trình</a:t>
            </a:r>
          </a:p>
          <a:p>
            <a:pPr algn="l"/>
            <a:r>
              <a:rPr sz="1250" b="0" i="0">
                <a:solidFill>
                  <a:srgbClr val="334155"/>
                </a:solidFill>
                <a:latin typeface="Calibri"/>
              </a:rPr>
              <a:t>Nói bằng lời thường: đạt gì, thiếu gì, căn cứ nào, kết quả cuối là duyệt, từ chối hay tạm giữ.</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GIẢI PHÁP 2</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Máy quyết, người chốt, biết ai gửi</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7</a:t>
            </a:r>
          </a:p>
        </p:txBody>
      </p:sp>
      <p:sp>
        <p:nvSpPr>
          <p:cNvPr id="6" name="Oval 5"/>
          <p:cNvSpPr/>
          <p:nvPr/>
        </p:nvSpPr>
        <p:spPr>
          <a:xfrm>
            <a:off x="457200" y="1188720"/>
            <a:ext cx="402336" cy="402336"/>
          </a:xfrm>
          <a:prstGeom prst="ellipse">
            <a:avLst/>
          </a:prstGeom>
          <a:solidFill>
            <a:srgbClr val="4D7C0F"/>
          </a:solidFill>
          <a:ln>
            <a:noFill/>
          </a:ln>
        </p:spPr>
        <p:txBody>
          <a:bodyPr rtlCol="0" anchor="ctr" lIns="0" rIns="0" tIns="0" bIns="0" wrap="square">
            <a:noAutofit/>
          </a:bodyPr>
          <a:lstStyle/>
          <a:p>
            <a:pPr algn="ctr"/>
            <a:r>
              <a:rPr sz="1400" b="1" i="0">
                <a:solidFill>
                  <a:srgbClr val="FFFFFF"/>
                </a:solidFill>
                <a:latin typeface="Calibri"/>
              </a:rPr>
              <a:t>1</a:t>
            </a:r>
          </a:p>
        </p:txBody>
      </p:sp>
      <p:sp>
        <p:nvSpPr>
          <p:cNvPr id="7" name="TextBox 6"/>
          <p:cNvSpPr txBox="1"/>
          <p:nvPr/>
        </p:nvSpPr>
        <p:spPr>
          <a:xfrm>
            <a:off x="1005840" y="1143000"/>
            <a:ext cx="3017520" cy="320040"/>
          </a:xfrm>
          <a:prstGeom prst="rect">
            <a:avLst/>
          </a:prstGeom>
          <a:noFill/>
        </p:spPr>
        <p:txBody>
          <a:bodyPr wrap="square" lIns="0" rIns="0" tIns="0" bIns="0" anchor="t">
            <a:noAutofit/>
          </a:bodyPr>
          <a:lstStyle/>
          <a:p>
            <a:pPr algn="l"/>
            <a:r>
              <a:rPr sz="1500" b="1" i="0">
                <a:solidFill>
                  <a:srgbClr val="0F172A"/>
                </a:solidFill>
                <a:latin typeface="Calibri"/>
              </a:rPr>
              <a:t>Máy quyết, người chốt</a:t>
            </a:r>
          </a:p>
        </p:txBody>
      </p:sp>
      <p:sp>
        <p:nvSpPr>
          <p:cNvPr id="8" name="TextBox 7"/>
          <p:cNvSpPr txBox="1"/>
          <p:nvPr/>
        </p:nvSpPr>
        <p:spPr>
          <a:xfrm>
            <a:off x="1005840" y="1490472"/>
            <a:ext cx="3017520" cy="685800"/>
          </a:xfrm>
          <a:prstGeom prst="rect">
            <a:avLst/>
          </a:prstGeom>
          <a:noFill/>
        </p:spPr>
        <p:txBody>
          <a:bodyPr wrap="square" lIns="0" rIns="0" tIns="0" bIns="0" anchor="t">
            <a:noAutofit/>
          </a:bodyPr>
          <a:lstStyle/>
          <a:p>
            <a:pPr algn="l"/>
            <a:r>
              <a:rPr sz="1250" b="0" i="0">
                <a:solidFill>
                  <a:srgbClr val="334155"/>
                </a:solidFill>
                <a:latin typeface="Calibri"/>
              </a:rPr>
              <a:t>Lô chỉ vào sổ sau khi KTT/CFO chốt; chỉ KTT/CFO được xuất chứng từ. KTT không chốt lô có hóa đơn do chính mình nhập.</a:t>
            </a:r>
          </a:p>
        </p:txBody>
      </p:sp>
      <p:sp>
        <p:nvSpPr>
          <p:cNvPr id="9" name="Oval 8"/>
          <p:cNvSpPr/>
          <p:nvPr/>
        </p:nvSpPr>
        <p:spPr>
          <a:xfrm>
            <a:off x="457200" y="2304287"/>
            <a:ext cx="402336" cy="402336"/>
          </a:xfrm>
          <a:prstGeom prst="ellipse">
            <a:avLst/>
          </a:prstGeom>
          <a:solidFill>
            <a:srgbClr val="4D7C0F"/>
          </a:solidFill>
          <a:ln>
            <a:noFill/>
          </a:ln>
        </p:spPr>
        <p:txBody>
          <a:bodyPr rtlCol="0" anchor="ctr" lIns="0" rIns="0" tIns="0" bIns="0" wrap="square">
            <a:noAutofit/>
          </a:bodyPr>
          <a:lstStyle/>
          <a:p>
            <a:pPr algn="ctr"/>
            <a:r>
              <a:rPr sz="1400" b="1" i="0">
                <a:solidFill>
                  <a:srgbClr val="FFFFFF"/>
                </a:solidFill>
                <a:latin typeface="Calibri"/>
              </a:rPr>
              <a:t>2</a:t>
            </a:r>
          </a:p>
        </p:txBody>
      </p:sp>
      <p:sp>
        <p:nvSpPr>
          <p:cNvPr id="10" name="TextBox 9"/>
          <p:cNvSpPr txBox="1"/>
          <p:nvPr/>
        </p:nvSpPr>
        <p:spPr>
          <a:xfrm>
            <a:off x="1005840" y="2258568"/>
            <a:ext cx="3017520" cy="320040"/>
          </a:xfrm>
          <a:prstGeom prst="rect">
            <a:avLst/>
          </a:prstGeom>
          <a:noFill/>
        </p:spPr>
        <p:txBody>
          <a:bodyPr wrap="square" lIns="0" rIns="0" tIns="0" bIns="0" anchor="t">
            <a:noAutofit/>
          </a:bodyPr>
          <a:lstStyle/>
          <a:p>
            <a:pPr algn="l"/>
            <a:r>
              <a:rPr sz="1500" b="1" i="0">
                <a:solidFill>
                  <a:srgbClr val="0F172A"/>
                </a:solidFill>
                <a:latin typeface="Calibri"/>
              </a:rPr>
              <a:t>Duyệt nhóm 1A, 2B</a:t>
            </a:r>
          </a:p>
        </p:txBody>
      </p:sp>
      <p:sp>
        <p:nvSpPr>
          <p:cNvPr id="11" name="TextBox 10"/>
          <p:cNvSpPr txBox="1"/>
          <p:nvPr/>
        </p:nvSpPr>
        <p:spPr>
          <a:xfrm>
            <a:off x="1005840" y="2606039"/>
            <a:ext cx="3017520" cy="685800"/>
          </a:xfrm>
          <a:prstGeom prst="rect">
            <a:avLst/>
          </a:prstGeom>
          <a:noFill/>
        </p:spPr>
        <p:txBody>
          <a:bodyPr wrap="square" lIns="0" rIns="0" tIns="0" bIns="0" anchor="t">
            <a:noAutofit/>
          </a:bodyPr>
          <a:lstStyle/>
          <a:p>
            <a:pPr algn="l"/>
            <a:r>
              <a:rPr sz="1250" b="0" i="0">
                <a:solidFill>
                  <a:srgbClr val="334155"/>
                </a:solidFill>
                <a:latin typeface="Calibri"/>
              </a:rPr>
              <a:t>Câu hỏi giống nhau gom lại, trả lời một lần cho cả nhóm, đúng người đúng việc.</a:t>
            </a:r>
          </a:p>
        </p:txBody>
      </p:sp>
      <p:sp>
        <p:nvSpPr>
          <p:cNvPr id="12" name="Oval 11"/>
          <p:cNvSpPr/>
          <p:nvPr/>
        </p:nvSpPr>
        <p:spPr>
          <a:xfrm>
            <a:off x="457200" y="3419856"/>
            <a:ext cx="402336" cy="402336"/>
          </a:xfrm>
          <a:prstGeom prst="ellipse">
            <a:avLst/>
          </a:prstGeom>
          <a:solidFill>
            <a:srgbClr val="4D7C0F"/>
          </a:solidFill>
          <a:ln>
            <a:noFill/>
          </a:ln>
        </p:spPr>
        <p:txBody>
          <a:bodyPr rtlCol="0" anchor="ctr" lIns="0" rIns="0" tIns="0" bIns="0" wrap="square">
            <a:noAutofit/>
          </a:bodyPr>
          <a:lstStyle/>
          <a:p>
            <a:pPr algn="ctr"/>
            <a:r>
              <a:rPr sz="1400" b="1" i="0">
                <a:solidFill>
                  <a:srgbClr val="FFFFFF"/>
                </a:solidFill>
                <a:latin typeface="Calibri"/>
              </a:rPr>
              <a:t>3</a:t>
            </a:r>
          </a:p>
        </p:txBody>
      </p:sp>
      <p:sp>
        <p:nvSpPr>
          <p:cNvPr id="13" name="TextBox 12"/>
          <p:cNvSpPr txBox="1"/>
          <p:nvPr/>
        </p:nvSpPr>
        <p:spPr>
          <a:xfrm>
            <a:off x="1005840" y="3374136"/>
            <a:ext cx="3017520" cy="320040"/>
          </a:xfrm>
          <a:prstGeom prst="rect">
            <a:avLst/>
          </a:prstGeom>
          <a:noFill/>
        </p:spPr>
        <p:txBody>
          <a:bodyPr wrap="square" lIns="0" rIns="0" tIns="0" bIns="0" anchor="t">
            <a:noAutofit/>
          </a:bodyPr>
          <a:lstStyle/>
          <a:p>
            <a:pPr algn="l"/>
            <a:r>
              <a:rPr sz="1500" b="1" i="0">
                <a:solidFill>
                  <a:srgbClr val="0F172A"/>
                </a:solidFill>
                <a:latin typeface="Calibri"/>
              </a:rPr>
              <a:t>Gmail, Zalo biết ai gửi</a:t>
            </a:r>
          </a:p>
        </p:txBody>
      </p:sp>
      <p:sp>
        <p:nvSpPr>
          <p:cNvPr id="14" name="TextBox 13"/>
          <p:cNvSpPr txBox="1"/>
          <p:nvPr/>
        </p:nvSpPr>
        <p:spPr>
          <a:xfrm>
            <a:off x="1005840" y="3721608"/>
            <a:ext cx="3017520" cy="685800"/>
          </a:xfrm>
          <a:prstGeom prst="rect">
            <a:avLst/>
          </a:prstGeom>
          <a:noFill/>
        </p:spPr>
        <p:txBody>
          <a:bodyPr wrap="square" lIns="0" rIns="0" tIns="0" bIns="0" anchor="t">
            <a:noAutofit/>
          </a:bodyPr>
          <a:lstStyle/>
          <a:p>
            <a:pPr algn="l"/>
            <a:r>
              <a:rPr sz="1250" b="0" i="0">
                <a:solidFill>
                  <a:srgbClr val="334155"/>
                </a:solidFill>
                <a:latin typeface="Calibri"/>
              </a:rPr>
              <a:t>Gmail: danh bạ + SPF/DKIM. Zalo: đúng user id. Giả danh kiểu example.com@evil.net bị chặn.</a:t>
            </a:r>
          </a:p>
        </p:txBody>
      </p:sp>
      <p:pic>
        <p:nvPicPr>
          <p:cNvPr id="15" name="Ảnh màn hình channels" descr="channels.png"/>
          <p:cNvPicPr>
            <a:picLocks noChangeAspect="1"/>
          </p:cNvPicPr>
          <p:nvPr/>
        </p:nvPicPr>
        <p:blipFill>
          <a:blip r:embed="rId3"/>
          <a:stretch>
            <a:fillRect/>
          </a:stretch>
        </p:blipFill>
        <p:spPr>
          <a:xfrm>
            <a:off x="4856317" y="1143000"/>
            <a:ext cx="3830482" cy="2523744"/>
          </a:xfrm>
          <a:prstGeom prst="rect">
            <a:avLst/>
          </a:prstGeom>
          <a:ln w="9525">
            <a:solidFill>
              <a:srgbClr val="CBD5E1"/>
            </a:solidFill>
          </a:ln>
        </p:spPr>
      </p:pic>
      <p:sp>
        <p:nvSpPr>
          <p:cNvPr id="16" name="TextBox 15"/>
          <p:cNvSpPr txBox="1"/>
          <p:nvPr/>
        </p:nvSpPr>
        <p:spPr>
          <a:xfrm>
            <a:off x="4206240" y="3794760"/>
            <a:ext cx="4480560" cy="548640"/>
          </a:xfrm>
          <a:prstGeom prst="rect">
            <a:avLst/>
          </a:prstGeom>
          <a:noFill/>
        </p:spPr>
        <p:txBody>
          <a:bodyPr wrap="square" lIns="0" rIns="0" tIns="0" bIns="0" anchor="t">
            <a:noAutofit/>
          </a:bodyPr>
          <a:lstStyle/>
          <a:p>
            <a:pPr algn="l"/>
            <a:r>
              <a:rPr sz="1100" b="0" i="1">
                <a:solidFill>
                  <a:srgbClr val="64748B"/>
                </a:solidFill>
                <a:latin typeface="Calibri"/>
              </a:rPr>
              <a:t>Hộp thư vào (phiên demo, Gmail/Zalo mô phỏng): nhân viên đã xác thực, nghi mạo danh, ngoài danh bạ.</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GIẢI PHÁP 3</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Sếp thấy toàn cảnh, mỗi người thấy việc mình</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8</a:t>
            </a:r>
          </a:p>
        </p:txBody>
      </p:sp>
      <p:pic>
        <p:nvPicPr>
          <p:cNvPr id="6" name="Ảnh màn hình dashboard" descr="dashboard.png"/>
          <p:cNvPicPr>
            <a:picLocks noChangeAspect="1"/>
          </p:cNvPicPr>
          <p:nvPr/>
        </p:nvPicPr>
        <p:blipFill>
          <a:blip r:embed="rId3"/>
          <a:stretch>
            <a:fillRect/>
          </a:stretch>
        </p:blipFill>
        <p:spPr>
          <a:xfrm>
            <a:off x="457200" y="1097280"/>
            <a:ext cx="4937760" cy="2776134"/>
          </a:xfrm>
          <a:prstGeom prst="rect">
            <a:avLst/>
          </a:prstGeom>
          <a:ln w="9525">
            <a:solidFill>
              <a:srgbClr val="CBD5E1"/>
            </a:solidFill>
          </a:ln>
        </p:spPr>
      </p:pic>
      <p:sp>
        <p:nvSpPr>
          <p:cNvPr id="7" name="TextBox 6"/>
          <p:cNvSpPr txBox="1"/>
          <p:nvPr/>
        </p:nvSpPr>
        <p:spPr>
          <a:xfrm>
            <a:off x="457200" y="4005072"/>
            <a:ext cx="4937760" cy="548640"/>
          </a:xfrm>
          <a:prstGeom prst="rect">
            <a:avLst/>
          </a:prstGeom>
          <a:noFill/>
        </p:spPr>
        <p:txBody>
          <a:bodyPr wrap="square" lIns="0" rIns="0" tIns="0" bIns="0" anchor="t">
            <a:noAutofit/>
          </a:bodyPr>
          <a:lstStyle/>
          <a:p>
            <a:pPr algn="l"/>
            <a:r>
              <a:rPr sz="1250" b="1" i="0">
                <a:solidFill>
                  <a:srgbClr val="0F172A"/>
                </a:solidFill>
                <a:latin typeface="Calibri"/>
              </a:rPr>
              <a:t>Tổng quan cho sếp: </a:t>
            </a:r>
            <a:r>
              <a:rPr sz="1250" b="0" i="0">
                <a:solidFill>
                  <a:srgbClr val="334155"/>
                </a:solidFill>
                <a:latin typeface="Calibri"/>
              </a:rPr>
              <a:t>bao nhiêu lô đã chốt, bao nhiêu chưa, hóa đơn nào chờ ai, vì sao dừng.</a:t>
            </a:r>
          </a:p>
        </p:txBody>
      </p:sp>
      <p:pic>
        <p:nvPicPr>
          <p:cNvPr id="8" name="Ảnh màn hình history" descr="history.png"/>
          <p:cNvPicPr>
            <a:picLocks noChangeAspect="1"/>
          </p:cNvPicPr>
          <p:nvPr/>
        </p:nvPicPr>
        <p:blipFill>
          <a:blip r:embed="rId4"/>
          <a:stretch>
            <a:fillRect/>
          </a:stretch>
        </p:blipFill>
        <p:spPr>
          <a:xfrm>
            <a:off x="5669280" y="1097280"/>
            <a:ext cx="3017520" cy="1696526"/>
          </a:xfrm>
          <a:prstGeom prst="rect">
            <a:avLst/>
          </a:prstGeom>
          <a:ln w="9525">
            <a:solidFill>
              <a:srgbClr val="CBD5E1"/>
            </a:solidFill>
          </a:ln>
        </p:spPr>
      </p:pic>
      <p:sp>
        <p:nvSpPr>
          <p:cNvPr id="9" name="TextBox 8"/>
          <p:cNvSpPr txBox="1"/>
          <p:nvPr/>
        </p:nvSpPr>
        <p:spPr>
          <a:xfrm>
            <a:off x="5669280" y="2971800"/>
            <a:ext cx="3017520" cy="1554480"/>
          </a:xfrm>
          <a:prstGeom prst="rect">
            <a:avLst/>
          </a:prstGeom>
          <a:noFill/>
        </p:spPr>
        <p:txBody>
          <a:bodyPr wrap="square" lIns="0" rIns="0" tIns="0" bIns="0" anchor="t">
            <a:noAutofit/>
          </a:bodyPr>
          <a:lstStyle/>
          <a:p>
            <a:pPr algn="l">
              <a:spcAft>
                <a:spcPts val="300"/>
              </a:spcAft>
            </a:pPr>
            <a:r>
              <a:rPr sz="1400" b="1" i="0">
                <a:solidFill>
                  <a:srgbClr val="0F172A"/>
                </a:solidFill>
                <a:latin typeface="Calibri"/>
              </a:rPr>
              <a:t>Lịch sử của tôi</a:t>
            </a:r>
          </a:p>
          <a:p>
            <a:pPr algn="l">
              <a:spcAft>
                <a:spcPts val="600"/>
              </a:spcAft>
            </a:pPr>
            <a:r>
              <a:rPr sz="1250" b="0" i="0">
                <a:solidFill>
                  <a:srgbClr val="334155"/>
                </a:solidFill>
                <a:latin typeface="Calibri"/>
              </a:rPr>
              <a:t>Mỗi người thấy mình đã nhập, trả lời, duyệt gì, bằng nhãn tiếng Việt.</a:t>
            </a:r>
          </a:p>
          <a:p>
            <a:pPr algn="l"/>
            <a:r>
              <a:rPr sz="1250" b="0" i="0">
                <a:solidFill>
                  <a:srgbClr val="64748B"/>
                </a:solidFill>
                <a:latin typeface="Calibri"/>
              </a:rPr>
              <a:t>Việc đã làm lấy từ nhật ký chỉ ghi thêm.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BẢO MẬT · TRẢ LỜI CÂU HỎI 1 CỦA BAN TỔ CHỨC</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Máy đọc có thể bị lừa, trọng tài thì không</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9</a:t>
            </a:r>
          </a:p>
        </p:txBody>
      </p:sp>
      <p:sp>
        <p:nvSpPr>
          <p:cNvPr id="6" name="Rounded Rectangle 5"/>
          <p:cNvSpPr/>
          <p:nvPr/>
        </p:nvSpPr>
        <p:spPr>
          <a:xfrm>
            <a:off x="457200" y="1143000"/>
            <a:ext cx="2468880" cy="1344168"/>
          </a:xfrm>
          <a:prstGeom prst="roundRect">
            <a:avLst>
              <a:gd name="adj" fmla="val 6000"/>
            </a:avLst>
          </a:prstGeom>
          <a:solidFill>
            <a:srgbClr val="F1F5F9"/>
          </a:solidFill>
          <a:ln>
            <a:noFill/>
          </a:ln>
        </p:spPr>
        <p:txBody>
          <a:bodyPr rtlCol="0" anchor="ctr" lIns="109728" rIns="109728" tIns="54864" bIns="54864"/>
          <a:lstStyle/>
          <a:p>
            <a:pPr algn="ctr"/>
          </a:p>
        </p:txBody>
      </p:sp>
      <p:sp>
        <p:nvSpPr>
          <p:cNvPr id="7" name="TextBox 6"/>
          <p:cNvSpPr txBox="1"/>
          <p:nvPr/>
        </p:nvSpPr>
        <p:spPr>
          <a:xfrm>
            <a:off x="594360" y="1252728"/>
            <a:ext cx="2194560" cy="274320"/>
          </a:xfrm>
          <a:prstGeom prst="rect">
            <a:avLst/>
          </a:prstGeom>
          <a:noFill/>
        </p:spPr>
        <p:txBody>
          <a:bodyPr wrap="square" lIns="0" rIns="0" tIns="0" bIns="0" anchor="t">
            <a:noAutofit/>
          </a:bodyPr>
          <a:lstStyle/>
          <a:p>
            <a:pPr algn="l"/>
            <a:r>
              <a:rPr sz="1350" b="1" i="0">
                <a:solidFill>
                  <a:srgbClr val="0F172A"/>
                </a:solidFill>
                <a:latin typeface="Calibri"/>
              </a:rPr>
              <a:t>Định danh</a:t>
            </a:r>
          </a:p>
        </p:txBody>
      </p:sp>
      <p:sp>
        <p:nvSpPr>
          <p:cNvPr id="8" name="TextBox 7"/>
          <p:cNvSpPr txBox="1"/>
          <p:nvPr/>
        </p:nvSpPr>
        <p:spPr>
          <a:xfrm>
            <a:off x="594360" y="1581912"/>
            <a:ext cx="2194560" cy="868680"/>
          </a:xfrm>
          <a:prstGeom prst="rect">
            <a:avLst/>
          </a:prstGeom>
          <a:noFill/>
        </p:spPr>
        <p:txBody>
          <a:bodyPr wrap="square" lIns="0" rIns="0" tIns="0" bIns="0" anchor="t">
            <a:noAutofit/>
          </a:bodyPr>
          <a:lstStyle/>
          <a:p>
            <a:pPr algn="l"/>
            <a:r>
              <a:rPr sz="1150" b="0" i="0">
                <a:solidFill>
                  <a:srgbClr val="334155"/>
                </a:solidFill>
                <a:latin typeface="Calibri"/>
              </a:rPr>
              <a:t>Máy tự duyệt thì nhật ký ghi tên máy, không mượn danh người nhập.</a:t>
            </a:r>
          </a:p>
        </p:txBody>
      </p:sp>
      <p:sp>
        <p:nvSpPr>
          <p:cNvPr id="9" name="Rounded Rectangle 8"/>
          <p:cNvSpPr/>
          <p:nvPr/>
        </p:nvSpPr>
        <p:spPr>
          <a:xfrm>
            <a:off x="3063240" y="1143000"/>
            <a:ext cx="2468880" cy="1344168"/>
          </a:xfrm>
          <a:prstGeom prst="roundRect">
            <a:avLst>
              <a:gd name="adj" fmla="val 6000"/>
            </a:avLst>
          </a:prstGeom>
          <a:solidFill>
            <a:srgbClr val="F1F5F9"/>
          </a:solidFill>
          <a:ln>
            <a:noFill/>
          </a:ln>
        </p:spPr>
        <p:txBody>
          <a:bodyPr rtlCol="0" anchor="ctr" lIns="109728" rIns="109728" tIns="54864" bIns="54864"/>
          <a:lstStyle/>
          <a:p>
            <a:pPr algn="ctr"/>
          </a:p>
        </p:txBody>
      </p:sp>
      <p:sp>
        <p:nvSpPr>
          <p:cNvPr id="10" name="TextBox 9"/>
          <p:cNvSpPr txBox="1"/>
          <p:nvPr/>
        </p:nvSpPr>
        <p:spPr>
          <a:xfrm>
            <a:off x="3200400" y="1252728"/>
            <a:ext cx="2194560" cy="274320"/>
          </a:xfrm>
          <a:prstGeom prst="rect">
            <a:avLst/>
          </a:prstGeom>
          <a:noFill/>
        </p:spPr>
        <p:txBody>
          <a:bodyPr wrap="square" lIns="0" rIns="0" tIns="0" bIns="0" anchor="t">
            <a:noAutofit/>
          </a:bodyPr>
          <a:lstStyle/>
          <a:p>
            <a:pPr algn="l"/>
            <a:r>
              <a:rPr sz="1350" b="1" i="0">
                <a:solidFill>
                  <a:srgbClr val="0F172A"/>
                </a:solidFill>
                <a:latin typeface="Calibri"/>
              </a:rPr>
              <a:t>Đặc quyền tối thiểu</a:t>
            </a:r>
          </a:p>
        </p:txBody>
      </p:sp>
      <p:sp>
        <p:nvSpPr>
          <p:cNvPr id="11" name="TextBox 10"/>
          <p:cNvSpPr txBox="1"/>
          <p:nvPr/>
        </p:nvSpPr>
        <p:spPr>
          <a:xfrm>
            <a:off x="3200400" y="1581912"/>
            <a:ext cx="2194560" cy="868680"/>
          </a:xfrm>
          <a:prstGeom prst="rect">
            <a:avLst/>
          </a:prstGeom>
          <a:noFill/>
        </p:spPr>
        <p:txBody>
          <a:bodyPr wrap="square" lIns="0" rIns="0" tIns="0" bIns="0" anchor="t">
            <a:noAutofit/>
          </a:bodyPr>
          <a:lstStyle/>
          <a:p>
            <a:pPr algn="l"/>
            <a:r>
              <a:rPr sz="1150" b="0" i="0">
                <a:solidFill>
                  <a:srgbClr val="334155"/>
                </a:solidFill>
                <a:latin typeface="Calibri"/>
              </a:rPr>
              <a:t>Quyền kiểm ở máy chủ. KTT sửa ca 330 triệu xuống 198 triệu vẫn phải chờ CFO.</a:t>
            </a:r>
          </a:p>
        </p:txBody>
      </p:sp>
      <p:sp>
        <p:nvSpPr>
          <p:cNvPr id="12" name="Rounded Rectangle 11"/>
          <p:cNvSpPr/>
          <p:nvPr/>
        </p:nvSpPr>
        <p:spPr>
          <a:xfrm>
            <a:off x="457200" y="2624328"/>
            <a:ext cx="2468880" cy="1344168"/>
          </a:xfrm>
          <a:prstGeom prst="roundRect">
            <a:avLst>
              <a:gd name="adj" fmla="val 6000"/>
            </a:avLst>
          </a:prstGeom>
          <a:solidFill>
            <a:srgbClr val="F1F5F9"/>
          </a:solidFill>
          <a:ln>
            <a:noFill/>
          </a:ln>
        </p:spPr>
        <p:txBody>
          <a:bodyPr rtlCol="0" anchor="ctr" lIns="109728" rIns="109728" tIns="54864" bIns="54864"/>
          <a:lstStyle/>
          <a:p>
            <a:pPr algn="ctr"/>
          </a:p>
        </p:txBody>
      </p:sp>
      <p:sp>
        <p:nvSpPr>
          <p:cNvPr id="13" name="TextBox 12"/>
          <p:cNvSpPr txBox="1"/>
          <p:nvPr/>
        </p:nvSpPr>
        <p:spPr>
          <a:xfrm>
            <a:off x="594360" y="2734056"/>
            <a:ext cx="2194560" cy="274320"/>
          </a:xfrm>
          <a:prstGeom prst="rect">
            <a:avLst/>
          </a:prstGeom>
          <a:noFill/>
        </p:spPr>
        <p:txBody>
          <a:bodyPr wrap="square" lIns="0" rIns="0" tIns="0" bIns="0" anchor="t">
            <a:noAutofit/>
          </a:bodyPr>
          <a:lstStyle/>
          <a:p>
            <a:pPr algn="l"/>
            <a:r>
              <a:rPr sz="1350" b="1" i="0">
                <a:solidFill>
                  <a:srgbClr val="0F172A"/>
                </a:solidFill>
                <a:latin typeface="Calibri"/>
              </a:rPr>
              <a:t>Ranh giới thực thi tất định</a:t>
            </a:r>
          </a:p>
        </p:txBody>
      </p:sp>
      <p:sp>
        <p:nvSpPr>
          <p:cNvPr id="14" name="TextBox 13"/>
          <p:cNvSpPr txBox="1"/>
          <p:nvPr/>
        </p:nvSpPr>
        <p:spPr>
          <a:xfrm>
            <a:off x="594360" y="3063240"/>
            <a:ext cx="2194560" cy="868680"/>
          </a:xfrm>
          <a:prstGeom prst="rect">
            <a:avLst/>
          </a:prstGeom>
          <a:noFill/>
        </p:spPr>
        <p:txBody>
          <a:bodyPr wrap="square" lIns="0" rIns="0" tIns="0" bIns="0" anchor="t">
            <a:noAutofit/>
          </a:bodyPr>
          <a:lstStyle/>
          <a:p>
            <a:pPr algn="l"/>
            <a:r>
              <a:rPr sz="1150" b="0" i="0">
                <a:solidFill>
                  <a:srgbClr val="334155"/>
                </a:solidFill>
                <a:latin typeface="Calibri"/>
              </a:rPr>
              <a:t>AI đọc ảnh chỉ khai 14 trường. Khai thêm “đã có ủy nhiệm chi” là bị loại, phải hỏi người.</a:t>
            </a:r>
          </a:p>
        </p:txBody>
      </p:sp>
      <p:sp>
        <p:nvSpPr>
          <p:cNvPr id="15" name="Rounded Rectangle 14"/>
          <p:cNvSpPr/>
          <p:nvPr/>
        </p:nvSpPr>
        <p:spPr>
          <a:xfrm>
            <a:off x="3063240" y="2624328"/>
            <a:ext cx="2468880" cy="1344168"/>
          </a:xfrm>
          <a:prstGeom prst="roundRect">
            <a:avLst>
              <a:gd name="adj" fmla="val 6000"/>
            </a:avLst>
          </a:prstGeom>
          <a:solidFill>
            <a:srgbClr val="F1F5F9"/>
          </a:solidFill>
          <a:ln>
            <a:noFill/>
          </a:ln>
        </p:spPr>
        <p:txBody>
          <a:bodyPr rtlCol="0" anchor="ctr" lIns="109728" rIns="109728" tIns="54864" bIns="54864"/>
          <a:lstStyle/>
          <a:p>
            <a:pPr algn="ctr"/>
          </a:p>
        </p:txBody>
      </p:sp>
      <p:sp>
        <p:nvSpPr>
          <p:cNvPr id="16" name="TextBox 15"/>
          <p:cNvSpPr txBox="1"/>
          <p:nvPr/>
        </p:nvSpPr>
        <p:spPr>
          <a:xfrm>
            <a:off x="3200400" y="2734056"/>
            <a:ext cx="2194560" cy="274320"/>
          </a:xfrm>
          <a:prstGeom prst="rect">
            <a:avLst/>
          </a:prstGeom>
          <a:noFill/>
        </p:spPr>
        <p:txBody>
          <a:bodyPr wrap="square" lIns="0" rIns="0" tIns="0" bIns="0" anchor="t">
            <a:noAutofit/>
          </a:bodyPr>
          <a:lstStyle/>
          <a:p>
            <a:pPr algn="l"/>
            <a:r>
              <a:rPr sz="1350" b="1" i="0">
                <a:solidFill>
                  <a:srgbClr val="0F172A"/>
                </a:solidFill>
                <a:latin typeface="Calibri"/>
              </a:rPr>
              <a:t>Cách ly</a:t>
            </a:r>
          </a:p>
        </p:txBody>
      </p:sp>
      <p:sp>
        <p:nvSpPr>
          <p:cNvPr id="17" name="TextBox 16"/>
          <p:cNvSpPr txBox="1"/>
          <p:nvPr/>
        </p:nvSpPr>
        <p:spPr>
          <a:xfrm>
            <a:off x="3200400" y="3063240"/>
            <a:ext cx="2194560" cy="868680"/>
          </a:xfrm>
          <a:prstGeom prst="rect">
            <a:avLst/>
          </a:prstGeom>
          <a:noFill/>
        </p:spPr>
        <p:txBody>
          <a:bodyPr wrap="square" lIns="0" rIns="0" tIns="0" bIns="0" anchor="t">
            <a:noAutofit/>
          </a:bodyPr>
          <a:lstStyle/>
          <a:p>
            <a:pPr algn="l"/>
            <a:r>
              <a:rPr sz="1150" b="0" i="0">
                <a:solidFill>
                  <a:srgbClr val="334155"/>
                </a:solidFill>
                <a:latin typeface="Calibri"/>
              </a:rPr>
              <a:t>Mỗi phiên một cơ sở dữ liệu riêng. Nhật ký bị sửa là bị phát hiện.</a:t>
            </a:r>
          </a:p>
        </p:txBody>
      </p:sp>
      <p:sp>
        <p:nvSpPr>
          <p:cNvPr id="18" name="TextBox 17"/>
          <p:cNvSpPr txBox="1"/>
          <p:nvPr/>
        </p:nvSpPr>
        <p:spPr>
          <a:xfrm>
            <a:off x="457200" y="4160520"/>
            <a:ext cx="5074920" cy="411480"/>
          </a:xfrm>
          <a:prstGeom prst="rect">
            <a:avLst/>
          </a:prstGeom>
          <a:noFill/>
        </p:spPr>
        <p:txBody>
          <a:bodyPr wrap="square" lIns="0" rIns="0" tIns="0" bIns="0" anchor="t">
            <a:noAutofit/>
          </a:bodyPr>
          <a:lstStyle/>
          <a:p>
            <a:pPr algn="l"/>
            <a:r>
              <a:rPr sz="1100" b="0" i="1">
                <a:solidFill>
                  <a:srgbClr val="64748B"/>
                </a:solidFill>
                <a:latin typeface="Calibri"/>
              </a:rPr>
              <a:t>Giới hạn nói thẳng: vai trò trong demo là mô phỏng; trình đọc PDF chưa chạy trong container riêng.</a:t>
            </a:r>
          </a:p>
        </p:txBody>
      </p:sp>
      <p:pic>
        <p:nvPicPr>
          <p:cNvPr id="19" name="Ảnh màn hình trust" descr="trust.png"/>
          <p:cNvPicPr>
            <a:picLocks noChangeAspect="1"/>
          </p:cNvPicPr>
          <p:nvPr/>
        </p:nvPicPr>
        <p:blipFill>
          <a:blip r:embed="rId3"/>
          <a:stretch>
            <a:fillRect/>
          </a:stretch>
        </p:blipFill>
        <p:spPr>
          <a:xfrm>
            <a:off x="5760720" y="1143000"/>
            <a:ext cx="2926080" cy="1645116"/>
          </a:xfrm>
          <a:prstGeom prst="rect">
            <a:avLst/>
          </a:prstGeom>
          <a:ln w="9525">
            <a:solidFill>
              <a:srgbClr val="CBD5E1"/>
            </a:solidFill>
          </a:ln>
        </p:spPr>
      </p:pic>
      <p:sp>
        <p:nvSpPr>
          <p:cNvPr id="20" name="TextBox 19"/>
          <p:cNvSpPr txBox="1"/>
          <p:nvPr/>
        </p:nvSpPr>
        <p:spPr>
          <a:xfrm>
            <a:off x="5760720" y="2926080"/>
            <a:ext cx="2926080" cy="1188720"/>
          </a:xfrm>
          <a:prstGeom prst="rect">
            <a:avLst/>
          </a:prstGeom>
          <a:noFill/>
        </p:spPr>
        <p:txBody>
          <a:bodyPr wrap="square" lIns="0" rIns="0" tIns="0" bIns="0" anchor="t">
            <a:noAutofit/>
          </a:bodyPr>
          <a:lstStyle/>
          <a:p>
            <a:pPr algn="l">
              <a:spcAft>
                <a:spcPts val="300"/>
              </a:spcAft>
            </a:pPr>
            <a:r>
              <a:rPr sz="1300" b="1" i="0">
                <a:solidFill>
                  <a:srgbClr val="0F172A"/>
                </a:solidFill>
                <a:latin typeface="Calibri"/>
              </a:rPr>
              <a:t>Trang /trust</a:t>
            </a:r>
          </a:p>
          <a:p>
            <a:pPr algn="l"/>
            <a:r>
              <a:rPr sz="1200" b="0" i="0">
                <a:solidFill>
                  <a:srgbClr val="334155"/>
                </a:solidFill>
                <a:latin typeface="Calibri"/>
              </a:rPr>
              <a:t>Các phép thử cho bốn trụ chạy ngay trên bản đang chạy, ai cũng bấm xem được.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4D7C0F"/>
                </a:solidFill>
                <a:latin typeface="Calibri"/>
              </a:rPr>
              <a:t>RIÊNG TƯ VÀ PHÁP LÝ</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0F172A"/>
                </a:solidFill>
                <a:latin typeface="Cambria"/>
              </a:rPr>
              <a:t>Dữ liệu đi đâu, luật nào áp dụng</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334155"/>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334155"/>
                </a:solidFill>
                <a:latin typeface="Calibri"/>
              </a:rPr>
              <a:t>10</a:t>
            </a:r>
          </a:p>
        </p:txBody>
      </p:sp>
      <p:sp>
        <p:nvSpPr>
          <p:cNvPr id="6" name="TextBox 5"/>
          <p:cNvSpPr txBox="1"/>
          <p:nvPr/>
        </p:nvSpPr>
        <p:spPr>
          <a:xfrm>
            <a:off x="457200" y="1097280"/>
            <a:ext cx="3931920" cy="274320"/>
          </a:xfrm>
          <a:prstGeom prst="rect">
            <a:avLst/>
          </a:prstGeom>
          <a:noFill/>
        </p:spPr>
        <p:txBody>
          <a:bodyPr wrap="square" lIns="0" rIns="0" tIns="0" bIns="0" anchor="t">
            <a:noAutofit/>
          </a:bodyPr>
          <a:lstStyle/>
          <a:p>
            <a:pPr algn="l"/>
            <a:r>
              <a:rPr sz="1500" b="1" i="0">
                <a:solidFill>
                  <a:srgbClr val="0F172A"/>
                </a:solidFill>
                <a:latin typeface="Calibri"/>
              </a:rPr>
              <a:t>Dữ liệu đi đâu</a:t>
            </a:r>
          </a:p>
        </p:txBody>
      </p:sp>
      <p:sp>
        <p:nvSpPr>
          <p:cNvPr id="7" name="Oval 6"/>
          <p:cNvSpPr/>
          <p:nvPr/>
        </p:nvSpPr>
        <p:spPr>
          <a:xfrm>
            <a:off x="457200" y="1499616"/>
            <a:ext cx="329184" cy="329184"/>
          </a:xfrm>
          <a:prstGeom prst="ellipse">
            <a:avLst/>
          </a:prstGeom>
          <a:solidFill>
            <a:srgbClr val="4D7C0F"/>
          </a:solidFill>
          <a:ln>
            <a:noFill/>
          </a:ln>
        </p:spPr>
        <p:txBody>
          <a:bodyPr rtlCol="0" anchor="ctr" lIns="0" rIns="0" tIns="0" bIns="0" wrap="square">
            <a:noAutofit/>
          </a:bodyPr>
          <a:lstStyle/>
          <a:p>
            <a:pPr algn="ctr"/>
            <a:r>
              <a:rPr sz="1200" b="1" i="0">
                <a:solidFill>
                  <a:srgbClr val="FFFFFF"/>
                </a:solidFill>
                <a:latin typeface="Calibri"/>
              </a:rPr>
              <a:t>✓</a:t>
            </a:r>
          </a:p>
        </p:txBody>
      </p:sp>
      <p:sp>
        <p:nvSpPr>
          <p:cNvPr id="8" name="TextBox 7"/>
          <p:cNvSpPr txBox="1"/>
          <p:nvPr/>
        </p:nvSpPr>
        <p:spPr>
          <a:xfrm>
            <a:off x="914400" y="1463040"/>
            <a:ext cx="3474720" cy="274320"/>
          </a:xfrm>
          <a:prstGeom prst="rect">
            <a:avLst/>
          </a:prstGeom>
          <a:noFill/>
        </p:spPr>
        <p:txBody>
          <a:bodyPr wrap="square" lIns="0" rIns="0" tIns="0" bIns="0" anchor="t">
            <a:noAutofit/>
          </a:bodyPr>
          <a:lstStyle/>
          <a:p>
            <a:pPr algn="l"/>
            <a:r>
              <a:rPr sz="1350" b="1" i="0">
                <a:solidFill>
                  <a:srgbClr val="0F172A"/>
                </a:solidFill>
                <a:latin typeface="Calibri"/>
              </a:rPr>
              <a:t>Nội dung XML không gửi AI</a:t>
            </a:r>
          </a:p>
        </p:txBody>
      </p:sp>
      <p:sp>
        <p:nvSpPr>
          <p:cNvPr id="9" name="TextBox 8"/>
          <p:cNvSpPr txBox="1"/>
          <p:nvPr/>
        </p:nvSpPr>
        <p:spPr>
          <a:xfrm>
            <a:off x="914400" y="1737360"/>
            <a:ext cx="3474720" cy="457200"/>
          </a:xfrm>
          <a:prstGeom prst="rect">
            <a:avLst/>
          </a:prstGeom>
          <a:noFill/>
        </p:spPr>
        <p:txBody>
          <a:bodyPr wrap="square" lIns="0" rIns="0" tIns="0" bIns="0" anchor="t">
            <a:noAutofit/>
          </a:bodyPr>
          <a:lstStyle/>
          <a:p>
            <a:pPr algn="l"/>
            <a:r>
              <a:rPr sz="1150" b="0" i="0">
                <a:solidFill>
                  <a:srgbClr val="334155"/>
                </a:solidFill>
                <a:latin typeface="Calibri"/>
              </a:rPr>
              <a:t>Máy đọc tất định. Tên, MST người bán có thể tra qua bên thứ ba và .gov.vn.</a:t>
            </a:r>
          </a:p>
        </p:txBody>
      </p:sp>
      <p:sp>
        <p:nvSpPr>
          <p:cNvPr id="10" name="Oval 9"/>
          <p:cNvSpPr/>
          <p:nvPr/>
        </p:nvSpPr>
        <p:spPr>
          <a:xfrm>
            <a:off x="457200" y="2267712"/>
            <a:ext cx="329184" cy="329184"/>
          </a:xfrm>
          <a:prstGeom prst="ellipse">
            <a:avLst/>
          </a:prstGeom>
          <a:solidFill>
            <a:srgbClr val="4D7C0F"/>
          </a:solidFill>
          <a:ln>
            <a:noFill/>
          </a:ln>
        </p:spPr>
        <p:txBody>
          <a:bodyPr rtlCol="0" anchor="ctr" lIns="0" rIns="0" tIns="0" bIns="0" wrap="square">
            <a:noAutofit/>
          </a:bodyPr>
          <a:lstStyle/>
          <a:p>
            <a:pPr algn="ctr"/>
            <a:r>
              <a:rPr sz="1200" b="1" i="0">
                <a:solidFill>
                  <a:srgbClr val="FFFFFF"/>
                </a:solidFill>
                <a:latin typeface="Calibri"/>
              </a:rPr>
              <a:t>✓</a:t>
            </a:r>
          </a:p>
        </p:txBody>
      </p:sp>
      <p:sp>
        <p:nvSpPr>
          <p:cNvPr id="11" name="TextBox 10"/>
          <p:cNvSpPr txBox="1"/>
          <p:nvPr/>
        </p:nvSpPr>
        <p:spPr>
          <a:xfrm>
            <a:off x="914400" y="2231136"/>
            <a:ext cx="3474720" cy="274320"/>
          </a:xfrm>
          <a:prstGeom prst="rect">
            <a:avLst/>
          </a:prstGeom>
          <a:noFill/>
        </p:spPr>
        <p:txBody>
          <a:bodyPr wrap="square" lIns="0" rIns="0" tIns="0" bIns="0" anchor="t">
            <a:noAutofit/>
          </a:bodyPr>
          <a:lstStyle/>
          <a:p>
            <a:pPr algn="l"/>
            <a:r>
              <a:rPr sz="1350" b="1" i="0">
                <a:solidFill>
                  <a:srgbClr val="0F172A"/>
                </a:solidFill>
                <a:latin typeface="Calibri"/>
              </a:rPr>
              <a:t>Ảnh: AI chỉ trả 14 trường</a:t>
            </a:r>
          </a:p>
        </p:txBody>
      </p:sp>
      <p:sp>
        <p:nvSpPr>
          <p:cNvPr id="12" name="TextBox 11"/>
          <p:cNvSpPr txBox="1"/>
          <p:nvPr/>
        </p:nvSpPr>
        <p:spPr>
          <a:xfrm>
            <a:off x="914400" y="2505456"/>
            <a:ext cx="3474720" cy="457200"/>
          </a:xfrm>
          <a:prstGeom prst="rect">
            <a:avLst/>
          </a:prstGeom>
          <a:noFill/>
        </p:spPr>
        <p:txBody>
          <a:bodyPr wrap="square" lIns="0" rIns="0" tIns="0" bIns="0" anchor="t">
            <a:noAutofit/>
          </a:bodyPr>
          <a:lstStyle/>
          <a:p>
            <a:pPr algn="l"/>
            <a:r>
              <a:rPr sz="1150" b="0" i="0">
                <a:solidFill>
                  <a:srgbClr val="334155"/>
                </a:solidFill>
                <a:latin typeface="Calibri"/>
              </a:rPr>
              <a:t>Trường thấy trên chứng từ. Khai thêm là bị loại.</a:t>
            </a:r>
          </a:p>
        </p:txBody>
      </p:sp>
      <p:sp>
        <p:nvSpPr>
          <p:cNvPr id="13" name="Oval 12"/>
          <p:cNvSpPr/>
          <p:nvPr/>
        </p:nvSpPr>
        <p:spPr>
          <a:xfrm>
            <a:off x="457200" y="3035808"/>
            <a:ext cx="329184" cy="329184"/>
          </a:xfrm>
          <a:prstGeom prst="ellipse">
            <a:avLst/>
          </a:prstGeom>
          <a:solidFill>
            <a:srgbClr val="4D7C0F"/>
          </a:solidFill>
          <a:ln>
            <a:noFill/>
          </a:ln>
        </p:spPr>
        <p:txBody>
          <a:bodyPr rtlCol="0" anchor="ctr" lIns="0" rIns="0" tIns="0" bIns="0" wrap="square">
            <a:noAutofit/>
          </a:bodyPr>
          <a:lstStyle/>
          <a:p>
            <a:pPr algn="ctr"/>
            <a:r>
              <a:rPr sz="1200" b="1" i="0">
                <a:solidFill>
                  <a:srgbClr val="FFFFFF"/>
                </a:solidFill>
                <a:latin typeface="Calibri"/>
              </a:rPr>
              <a:t>✓</a:t>
            </a:r>
          </a:p>
        </p:txBody>
      </p:sp>
      <p:sp>
        <p:nvSpPr>
          <p:cNvPr id="14" name="TextBox 13"/>
          <p:cNvSpPr txBox="1"/>
          <p:nvPr/>
        </p:nvSpPr>
        <p:spPr>
          <a:xfrm>
            <a:off x="914400" y="2999232"/>
            <a:ext cx="3474720" cy="274320"/>
          </a:xfrm>
          <a:prstGeom prst="rect">
            <a:avLst/>
          </a:prstGeom>
          <a:noFill/>
        </p:spPr>
        <p:txBody>
          <a:bodyPr wrap="square" lIns="0" rIns="0" tIns="0" bIns="0" anchor="t">
            <a:noAutofit/>
          </a:bodyPr>
          <a:lstStyle/>
          <a:p>
            <a:pPr algn="l"/>
            <a:r>
              <a:rPr sz="1350" b="1" i="0">
                <a:solidFill>
                  <a:srgbClr val="0F172A"/>
                </a:solidFill>
                <a:latin typeface="Calibri"/>
              </a:rPr>
              <a:t>Quyết định không cần AI</a:t>
            </a:r>
          </a:p>
        </p:txBody>
      </p:sp>
      <p:sp>
        <p:nvSpPr>
          <p:cNvPr id="15" name="TextBox 14"/>
          <p:cNvSpPr txBox="1"/>
          <p:nvPr/>
        </p:nvSpPr>
        <p:spPr>
          <a:xfrm>
            <a:off x="914400" y="3273552"/>
            <a:ext cx="3474720" cy="457200"/>
          </a:xfrm>
          <a:prstGeom prst="rect">
            <a:avLst/>
          </a:prstGeom>
          <a:noFill/>
        </p:spPr>
        <p:txBody>
          <a:bodyPr wrap="square" lIns="0" rIns="0" tIns="0" bIns="0" anchor="t">
            <a:noAutofit/>
          </a:bodyPr>
          <a:lstStyle/>
          <a:p>
            <a:pPr algn="l"/>
            <a:r>
              <a:rPr sz="1150" b="0" i="0">
                <a:solidFill>
                  <a:srgbClr val="334155"/>
                </a:solidFill>
                <a:latin typeface="Calibri"/>
              </a:rPr>
              <a:t>Đường quyết định không gọi AI, nên chạy được chỉ với XML và nhập tay.</a:t>
            </a:r>
          </a:p>
        </p:txBody>
      </p:sp>
      <p:sp>
        <p:nvSpPr>
          <p:cNvPr id="16" name="Oval 15"/>
          <p:cNvSpPr/>
          <p:nvPr/>
        </p:nvSpPr>
        <p:spPr>
          <a:xfrm>
            <a:off x="457200" y="3803904"/>
            <a:ext cx="329184" cy="329184"/>
          </a:xfrm>
          <a:prstGeom prst="ellipse">
            <a:avLst/>
          </a:prstGeom>
          <a:solidFill>
            <a:srgbClr val="4D7C0F"/>
          </a:solidFill>
          <a:ln>
            <a:noFill/>
          </a:ln>
        </p:spPr>
        <p:txBody>
          <a:bodyPr rtlCol="0" anchor="ctr" lIns="0" rIns="0" tIns="0" bIns="0" wrap="square">
            <a:noAutofit/>
          </a:bodyPr>
          <a:lstStyle/>
          <a:p>
            <a:pPr algn="ctr"/>
            <a:r>
              <a:rPr sz="1200" b="1" i="0">
                <a:solidFill>
                  <a:srgbClr val="FFFFFF"/>
                </a:solidFill>
                <a:latin typeface="Calibri"/>
              </a:rPr>
              <a:t>✓</a:t>
            </a:r>
          </a:p>
        </p:txBody>
      </p:sp>
      <p:sp>
        <p:nvSpPr>
          <p:cNvPr id="17" name="TextBox 16"/>
          <p:cNvSpPr txBox="1"/>
          <p:nvPr/>
        </p:nvSpPr>
        <p:spPr>
          <a:xfrm>
            <a:off x="914400" y="3767328"/>
            <a:ext cx="3474720" cy="274320"/>
          </a:xfrm>
          <a:prstGeom prst="rect">
            <a:avLst/>
          </a:prstGeom>
          <a:noFill/>
        </p:spPr>
        <p:txBody>
          <a:bodyPr wrap="square" lIns="0" rIns="0" tIns="0" bIns="0" anchor="t">
            <a:noAutofit/>
          </a:bodyPr>
          <a:lstStyle/>
          <a:p>
            <a:pPr algn="l"/>
            <a:r>
              <a:rPr sz="1350" b="1" i="0">
                <a:solidFill>
                  <a:srgbClr val="0F172A"/>
                </a:solidFill>
                <a:latin typeface="Calibri"/>
              </a:rPr>
              <a:t>Mỗi phiên tách riêng</a:t>
            </a:r>
          </a:p>
        </p:txBody>
      </p:sp>
      <p:sp>
        <p:nvSpPr>
          <p:cNvPr id="18" name="TextBox 17"/>
          <p:cNvSpPr txBox="1"/>
          <p:nvPr/>
        </p:nvSpPr>
        <p:spPr>
          <a:xfrm>
            <a:off x="914400" y="4041648"/>
            <a:ext cx="3474720" cy="457200"/>
          </a:xfrm>
          <a:prstGeom prst="rect">
            <a:avLst/>
          </a:prstGeom>
          <a:noFill/>
        </p:spPr>
        <p:txBody>
          <a:bodyPr wrap="square" lIns="0" rIns="0" tIns="0" bIns="0" anchor="t">
            <a:noAutofit/>
          </a:bodyPr>
          <a:lstStyle/>
          <a:p>
            <a:pPr algn="l"/>
            <a:r>
              <a:rPr sz="1150" b="0" i="0">
                <a:solidFill>
                  <a:srgbClr val="334155"/>
                </a:solidFill>
                <a:latin typeface="Calibri"/>
              </a:rPr>
              <a:t>Một cơ sở dữ liệu riêng mỗi phiên, nhật ký chỉ ghi thêm.</a:t>
            </a:r>
          </a:p>
        </p:txBody>
      </p:sp>
      <p:sp>
        <p:nvSpPr>
          <p:cNvPr id="19" name="Rounded Rectangle 18"/>
          <p:cNvSpPr/>
          <p:nvPr/>
        </p:nvSpPr>
        <p:spPr>
          <a:xfrm>
            <a:off x="4709160" y="1097280"/>
            <a:ext cx="3977639" cy="1600200"/>
          </a:xfrm>
          <a:prstGeom prst="roundRect">
            <a:avLst>
              <a:gd name="adj" fmla="val 5000"/>
            </a:avLst>
          </a:prstGeom>
          <a:solidFill>
            <a:srgbClr val="F1F5F9"/>
          </a:solidFill>
          <a:ln>
            <a:noFill/>
          </a:ln>
        </p:spPr>
        <p:txBody>
          <a:bodyPr rtlCol="0" anchor="t" lIns="146304" rIns="146304" tIns="54864" bIns="54864" wrap="square">
            <a:noAutofit/>
          </a:bodyPr>
          <a:lstStyle/>
          <a:p>
            <a:pPr algn="l">
              <a:spcAft>
                <a:spcPts val="600"/>
              </a:spcAft>
            </a:pPr>
            <a:r>
              <a:rPr sz="1350" b="1" i="0">
                <a:solidFill>
                  <a:srgbClr val="0F172A"/>
                </a:solidFill>
                <a:latin typeface="Calibri"/>
              </a:rPr>
              <a:t>Thuế: căn cứ theo NGÀY LẬP hóa đơn</a:t>
            </a:r>
          </a:p>
          <a:p>
            <a:pPr algn="l">
              <a:spcAft>
                <a:spcPts val="400"/>
              </a:spcAft>
            </a:pPr>
            <a:r>
              <a:rPr sz="1200" b="1" i="0">
                <a:solidFill>
                  <a:srgbClr val="334155"/>
                </a:solidFill>
                <a:latin typeface="Calibri"/>
              </a:rPr>
              <a:t>Trước 01/7/2025: </a:t>
            </a:r>
            <a:r>
              <a:rPr sz="1200" b="0" i="0">
                <a:solidFill>
                  <a:srgbClr val="334155"/>
                </a:solidFill>
                <a:latin typeface="Calibri"/>
              </a:rPr>
              <a:t>Thông tư 219/2013/TT-BTC.</a:t>
            </a:r>
          </a:p>
          <a:p>
            <a:pPr algn="l"/>
            <a:r>
              <a:rPr sz="1200" b="1" i="0">
                <a:solidFill>
                  <a:srgbClr val="334155"/>
                </a:solidFill>
                <a:latin typeface="Calibri"/>
              </a:rPr>
              <a:t>Từ 01/7/2025: </a:t>
            </a:r>
            <a:r>
              <a:rPr sz="1200" b="0" i="0">
                <a:solidFill>
                  <a:srgbClr val="334155"/>
                </a:solidFill>
                <a:latin typeface="Calibri"/>
              </a:rPr>
              <a:t>Luật Thuế GTGT 48/2024/QH15, Nghị định 181/2025/NĐ-CP.</a:t>
            </a:r>
          </a:p>
        </p:txBody>
      </p:sp>
      <p:sp>
        <p:nvSpPr>
          <p:cNvPr id="20" name="Rounded Rectangle 19"/>
          <p:cNvSpPr/>
          <p:nvPr/>
        </p:nvSpPr>
        <p:spPr>
          <a:xfrm>
            <a:off x="4709160" y="2834640"/>
            <a:ext cx="3977639" cy="1691640"/>
          </a:xfrm>
          <a:prstGeom prst="roundRect">
            <a:avLst>
              <a:gd name="adj" fmla="val 5000"/>
            </a:avLst>
          </a:prstGeom>
          <a:solidFill>
            <a:srgbClr val="FEF3C7"/>
          </a:solidFill>
          <a:ln>
            <a:noFill/>
          </a:ln>
        </p:spPr>
        <p:txBody>
          <a:bodyPr rtlCol="0" anchor="t" lIns="146304" rIns="146304" tIns="54864" bIns="54864" wrap="square">
            <a:noAutofit/>
          </a:bodyPr>
          <a:lstStyle/>
          <a:p>
            <a:pPr algn="l">
              <a:spcAft>
                <a:spcPts val="600"/>
              </a:spcAft>
            </a:pPr>
            <a:r>
              <a:rPr sz="1350" b="1" i="0">
                <a:solidFill>
                  <a:srgbClr val="0F172A"/>
                </a:solidFill>
                <a:latin typeface="Calibri"/>
              </a:rPr>
              <a:t>Dữ liệu cá nhân</a:t>
            </a:r>
          </a:p>
          <a:p>
            <a:pPr algn="l">
              <a:spcAft>
                <a:spcPts val="400"/>
              </a:spcAft>
            </a:pPr>
            <a:r>
              <a:rPr sz="1200" b="0" i="0">
                <a:solidFill>
                  <a:srgbClr val="334155"/>
                </a:solidFill>
                <a:latin typeface="Calibri"/>
              </a:rPr>
              <a:t>Luật Bảo vệ dữ liệu cá nhân 91/2025/QH15 và Nghị định 356/2025/NĐ-CP: đã đối chiếu qua nguồn thứ cấp, chưa trích số điều.</a:t>
            </a:r>
          </a:p>
          <a:p>
            <a:pPr algn="l"/>
            <a:r>
              <a:rPr sz="1200" b="1" i="0">
                <a:solidFill>
                  <a:srgbClr val="334155"/>
                </a:solidFill>
                <a:latin typeface="Calibri"/>
              </a:rPr>
              <a:t>Lên production: </a:t>
            </a:r>
            <a:r>
              <a:rPr sz="1200" b="0" i="0">
                <a:solidFill>
                  <a:srgbClr val="334155"/>
                </a:solidFill>
                <a:latin typeface="Calibri"/>
              </a:rPr>
              <a:t>hợp đồng xử lý dữ liệu với nhà cung cấp AI, hoặc chỉ chạy XML.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Kicker"/>
          <p:cNvSpPr txBox="1"/>
          <p:nvPr/>
        </p:nvSpPr>
        <p:spPr>
          <a:xfrm>
            <a:off x="457200" y="219456"/>
            <a:ext cx="8229600" cy="228600"/>
          </a:xfrm>
          <a:prstGeom prst="rect">
            <a:avLst/>
          </a:prstGeom>
          <a:noFill/>
        </p:spPr>
        <p:txBody>
          <a:bodyPr wrap="square" lIns="0" rIns="0" tIns="0" bIns="0" anchor="t">
            <a:noAutofit/>
          </a:bodyPr>
          <a:lstStyle/>
          <a:p>
            <a:pPr algn="l"/>
            <a:r>
              <a:rPr sz="1000" b="1" i="0">
                <a:solidFill>
                  <a:srgbClr val="D9F99D"/>
                </a:solidFill>
                <a:latin typeface="Calibri"/>
              </a:rPr>
              <a:t>DEMO</a:t>
            </a:r>
          </a:p>
        </p:txBody>
      </p:sp>
      <p:sp>
        <p:nvSpPr>
          <p:cNvPr id="3" name="Title"/>
          <p:cNvSpPr txBox="1"/>
          <p:nvPr/>
        </p:nvSpPr>
        <p:spPr>
          <a:xfrm>
            <a:off x="457200" y="438912"/>
            <a:ext cx="8229600" cy="548640"/>
          </a:xfrm>
          <a:prstGeom prst="rect">
            <a:avLst/>
          </a:prstGeom>
          <a:noFill/>
        </p:spPr>
        <p:txBody>
          <a:bodyPr wrap="square" lIns="0" rIns="0" tIns="0" bIns="0" anchor="t">
            <a:noAutofit/>
          </a:bodyPr>
          <a:lstStyle/>
          <a:p>
            <a:pPr algn="l"/>
            <a:r>
              <a:rPr sz="2600" b="1" i="0">
                <a:solidFill>
                  <a:srgbClr val="FFFFFF"/>
                </a:solidFill>
                <a:latin typeface="Cambria"/>
              </a:rPr>
              <a:t>Xem Tax Referee chạy trong 1 phút</a:t>
            </a:r>
          </a:p>
        </p:txBody>
      </p:sp>
      <p:sp>
        <p:nvSpPr>
          <p:cNvPr id="4" name="Footer"/>
          <p:cNvSpPr txBox="1"/>
          <p:nvPr/>
        </p:nvSpPr>
        <p:spPr>
          <a:xfrm>
            <a:off x="457200" y="4754880"/>
            <a:ext cx="6949440" cy="228600"/>
          </a:xfrm>
          <a:prstGeom prst="rect">
            <a:avLst/>
          </a:prstGeom>
          <a:noFill/>
        </p:spPr>
        <p:txBody>
          <a:bodyPr wrap="square" lIns="0" rIns="0" tIns="0" bIns="0" anchor="t">
            <a:noAutofit/>
          </a:bodyPr>
          <a:lstStyle/>
          <a:p>
            <a:pPr algn="l"/>
            <a:r>
              <a:rPr sz="900" b="0" i="0">
                <a:solidFill>
                  <a:srgbClr val="94A3B8"/>
                </a:solidFill>
                <a:latin typeface="Calibri"/>
              </a:rPr>
              <a:t>Tax Referee · Đội Fprinciples · MLAI Hackathon 2026 · Track VNG</a:t>
            </a:r>
          </a:p>
        </p:txBody>
      </p:sp>
      <p:sp>
        <p:nvSpPr>
          <p:cNvPr id="5" name="Slide number"/>
          <p:cNvSpPr txBox="1"/>
          <p:nvPr/>
        </p:nvSpPr>
        <p:spPr>
          <a:xfrm>
            <a:off x="8138160" y="4754880"/>
            <a:ext cx="548640" cy="228600"/>
          </a:xfrm>
          <a:prstGeom prst="rect">
            <a:avLst/>
          </a:prstGeom>
          <a:noFill/>
        </p:spPr>
        <p:txBody>
          <a:bodyPr wrap="square" lIns="0" rIns="0" tIns="0" bIns="0" anchor="t">
            <a:noAutofit/>
          </a:bodyPr>
          <a:lstStyle/>
          <a:p>
            <a:pPr algn="r"/>
            <a:r>
              <a:rPr sz="900" b="0" i="0">
                <a:solidFill>
                  <a:srgbClr val="94A3B8"/>
                </a:solidFill>
                <a:latin typeface="Calibri"/>
              </a:rPr>
              <a:t>11</a:t>
            </a:r>
          </a:p>
        </p:txBody>
      </p:sp>
      <p:pic>
        <p:nvPicPr>
          <p:cNvPr id="6" name="Video demo 1 phút">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527048" y="1051560"/>
            <a:ext cx="6089904" cy="3429000"/>
          </a:xfrm>
          <a:prstGeom prst="rect">
            <a:avLst/>
          </a:prstGeom>
        </p:spPr>
      </p:pic>
      <p:sp>
        <p:nvSpPr>
          <p:cNvPr id="7" name="TextBox 6"/>
          <p:cNvSpPr txBox="1"/>
          <p:nvPr/>
        </p:nvSpPr>
        <p:spPr>
          <a:xfrm>
            <a:off x="457200" y="4526280"/>
            <a:ext cx="8229600" cy="201168"/>
          </a:xfrm>
          <a:prstGeom prst="rect">
            <a:avLst/>
          </a:prstGeom>
          <a:noFill/>
        </p:spPr>
        <p:txBody>
          <a:bodyPr wrap="square" lIns="0" rIns="0" tIns="0" bIns="0" anchor="t">
            <a:noAutofit/>
          </a:bodyPr>
          <a:lstStyle/>
          <a:p>
            <a:pPr algn="ctr"/>
            <a:r>
              <a:rPr sz="1000" b="0" i="0">
                <a:solidFill>
                  <a:srgbClr val="D9F99D"/>
                </a:solidFill>
                <a:latin typeface="Calibri"/>
              </a:rPr>
              <a:t>limegreen-salamander-517622.hostingersite.com</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